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Montserrat Bold" charset="1" panose="00000800000000000000"/>
      <p:regular r:id="rId26"/>
    </p:embeddedFont>
    <p:embeddedFont>
      <p:font typeface="Montserrat"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1.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5.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799326" y="8783971"/>
            <a:ext cx="16689348" cy="815308"/>
            <a:chOff x="0" y="0"/>
            <a:chExt cx="4395548" cy="214731"/>
          </a:xfrm>
        </p:grpSpPr>
        <p:sp>
          <p:nvSpPr>
            <p:cNvPr name="Freeform 10" id="10"/>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1" id="11"/>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2" id="12"/>
          <p:cNvGrpSpPr/>
          <p:nvPr/>
        </p:nvGrpSpPr>
        <p:grpSpPr>
          <a:xfrm rot="0">
            <a:off x="7925500" y="6875137"/>
            <a:ext cx="2437000" cy="787252"/>
            <a:chOff x="0" y="0"/>
            <a:chExt cx="641844" cy="207342"/>
          </a:xfrm>
        </p:grpSpPr>
        <p:sp>
          <p:nvSpPr>
            <p:cNvPr name="Freeform 13" id="13"/>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4" id="14"/>
            <p:cNvSpPr txBox="true"/>
            <p:nvPr/>
          </p:nvSpPr>
          <p:spPr>
            <a:xfrm>
              <a:off x="0" y="-28575"/>
              <a:ext cx="641844" cy="235917"/>
            </a:xfrm>
            <a:prstGeom prst="rect">
              <a:avLst/>
            </a:prstGeom>
          </p:spPr>
          <p:txBody>
            <a:bodyPr anchor="ctr" rtlCol="false" tIns="50800" lIns="50800" bIns="50800" rIns="50800"/>
            <a:lstStyle/>
            <a:p>
              <a:pPr algn="ctr" marL="0" indent="0" lvl="0">
                <a:lnSpc>
                  <a:spcPts val="2088"/>
                </a:lnSpc>
              </a:pPr>
              <a:r>
                <a:rPr lang="en-US" b="true" sz="1491">
                  <a:solidFill>
                    <a:srgbClr val="000000"/>
                  </a:solidFill>
                  <a:latin typeface="Montserrat Bold"/>
                  <a:ea typeface="Montserrat Bold"/>
                  <a:cs typeface="Montserrat Bold"/>
                  <a:sym typeface="Montserrat Bold"/>
                </a:rPr>
                <a:t>NEXT SLIDE</a:t>
              </a:r>
            </a:p>
          </p:txBody>
        </p:sp>
      </p:grpSp>
      <p:sp>
        <p:nvSpPr>
          <p:cNvPr name="Freeform 15" id="15"/>
          <p:cNvSpPr/>
          <p:nvPr/>
        </p:nvSpPr>
        <p:spPr>
          <a:xfrm flipH="false" flipV="false" rot="0">
            <a:off x="13911295" y="1374558"/>
            <a:ext cx="6436750" cy="6436750"/>
          </a:xfrm>
          <a:custGeom>
            <a:avLst/>
            <a:gdLst/>
            <a:ahLst/>
            <a:cxnLst/>
            <a:rect r="r" b="b" t="t" l="l"/>
            <a:pathLst>
              <a:path h="6436750" w="6436750">
                <a:moveTo>
                  <a:pt x="0" y="0"/>
                </a:moveTo>
                <a:lnTo>
                  <a:pt x="6436750" y="0"/>
                </a:lnTo>
                <a:lnTo>
                  <a:pt x="6436750" y="6436750"/>
                </a:lnTo>
                <a:lnTo>
                  <a:pt x="0" y="643675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72002" y="2172242"/>
            <a:ext cx="6436750" cy="6436750"/>
          </a:xfrm>
          <a:custGeom>
            <a:avLst/>
            <a:gdLst/>
            <a:ahLst/>
            <a:cxnLst/>
            <a:rect r="r" b="b" t="t" l="l"/>
            <a:pathLst>
              <a:path h="6436750" w="6436750">
                <a:moveTo>
                  <a:pt x="0" y="0"/>
                </a:moveTo>
                <a:lnTo>
                  <a:pt x="6436751" y="0"/>
                </a:lnTo>
                <a:lnTo>
                  <a:pt x="6436751" y="6436750"/>
                </a:lnTo>
                <a:lnTo>
                  <a:pt x="0" y="643675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7" id="17"/>
          <p:cNvGrpSpPr/>
          <p:nvPr/>
        </p:nvGrpSpPr>
        <p:grpSpPr>
          <a:xfrm rot="0">
            <a:off x="1028700" y="8960184"/>
            <a:ext cx="462882" cy="462882"/>
            <a:chOff x="0" y="0"/>
            <a:chExt cx="673100" cy="673100"/>
          </a:xfrm>
        </p:grpSpPr>
        <p:sp>
          <p:nvSpPr>
            <p:cNvPr name="Freeform 18" id="1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19" id="1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grpSp>
        <p:nvGrpSpPr>
          <p:cNvPr name="Group 20" id="20"/>
          <p:cNvGrpSpPr/>
          <p:nvPr/>
        </p:nvGrpSpPr>
        <p:grpSpPr>
          <a:xfrm rot="0">
            <a:off x="16796418" y="8960184"/>
            <a:ext cx="462882" cy="462882"/>
            <a:chOff x="0" y="0"/>
            <a:chExt cx="673100" cy="673100"/>
          </a:xfrm>
        </p:grpSpPr>
        <p:sp>
          <p:nvSpPr>
            <p:cNvPr name="Freeform 21" id="21"/>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2" id="22"/>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3" id="23"/>
          <p:cNvSpPr txBox="true"/>
          <p:nvPr/>
        </p:nvSpPr>
        <p:spPr>
          <a:xfrm rot="0">
            <a:off x="1126643" y="696276"/>
            <a:ext cx="3710438" cy="375055"/>
          </a:xfrm>
          <a:prstGeom prst="rect">
            <a:avLst/>
          </a:prstGeom>
        </p:spPr>
        <p:txBody>
          <a:bodyPr anchor="t" rtlCol="false" tIns="0" lIns="0" bIns="0" rIns="0">
            <a:spAutoFit/>
          </a:bodyPr>
          <a:lstStyle/>
          <a:p>
            <a:pPr algn="l" marL="0" indent="0" lvl="0">
              <a:lnSpc>
                <a:spcPts val="1461"/>
              </a:lnSpc>
            </a:pPr>
            <a:r>
              <a:rPr lang="en-US" b="true" sz="1491" spc="40">
                <a:solidFill>
                  <a:srgbClr val="000000"/>
                </a:solidFill>
                <a:latin typeface="Montserrat Bold"/>
                <a:ea typeface="Montserrat Bold"/>
                <a:cs typeface="Montserrat Bold"/>
                <a:sym typeface="Montserrat Bold"/>
              </a:rPr>
              <a:t>AR &amp; VR IN TOURISM</a:t>
            </a:r>
          </a:p>
          <a:p>
            <a:pPr algn="l" marL="0" indent="0" lvl="0">
              <a:lnSpc>
                <a:spcPts val="1461"/>
              </a:lnSpc>
            </a:pPr>
            <a:r>
              <a:rPr lang="en-US" b="true" sz="1491" spc="40">
                <a:solidFill>
                  <a:srgbClr val="000000"/>
                </a:solidFill>
                <a:latin typeface="Montserrat Bold"/>
                <a:ea typeface="Montserrat Bold"/>
                <a:cs typeface="Montserrat Bold"/>
                <a:sym typeface="Montserrat Bold"/>
              </a:rPr>
              <a:t>PRESENTATION</a:t>
            </a:r>
          </a:p>
        </p:txBody>
      </p:sp>
      <p:sp>
        <p:nvSpPr>
          <p:cNvPr name="TextBox 24" id="24"/>
          <p:cNvSpPr txBox="true"/>
          <p:nvPr/>
        </p:nvSpPr>
        <p:spPr>
          <a:xfrm rot="0">
            <a:off x="5718971" y="793875"/>
            <a:ext cx="1755559" cy="224226"/>
          </a:xfrm>
          <a:prstGeom prst="rect">
            <a:avLst/>
          </a:prstGeom>
        </p:spPr>
        <p:txBody>
          <a:bodyPr anchor="t" rtlCol="false" tIns="0" lIns="0" bIns="0" rIns="0">
            <a:spAutoFit/>
          </a:bodyPr>
          <a:lstStyle/>
          <a:p>
            <a:pPr algn="ctr" marL="0" indent="0" lvl="0">
              <a:lnSpc>
                <a:spcPts val="1816"/>
              </a:lnSpc>
              <a:spcBef>
                <a:spcPct val="0"/>
              </a:spcBef>
            </a:pPr>
            <a:r>
              <a:rPr lang="en-US" b="true" sz="1297" spc="150">
                <a:solidFill>
                  <a:srgbClr val="000000"/>
                </a:solidFill>
                <a:latin typeface="Montserrat Bold"/>
                <a:ea typeface="Montserrat Bold"/>
                <a:cs typeface="Montserrat Bold"/>
                <a:sym typeface="Montserrat Bold"/>
              </a:rPr>
              <a:t>HOME</a:t>
            </a:r>
          </a:p>
        </p:txBody>
      </p:sp>
      <p:sp>
        <p:nvSpPr>
          <p:cNvPr name="TextBox 25" id="25"/>
          <p:cNvSpPr txBox="true"/>
          <p:nvPr/>
        </p:nvSpPr>
        <p:spPr>
          <a:xfrm rot="0">
            <a:off x="7844217" y="793875"/>
            <a:ext cx="2013772" cy="224226"/>
          </a:xfrm>
          <a:prstGeom prst="rect">
            <a:avLst/>
          </a:prstGeom>
        </p:spPr>
        <p:txBody>
          <a:bodyPr anchor="t" rtlCol="false" tIns="0" lIns="0" bIns="0" rIns="0">
            <a:spAutoFit/>
          </a:bodyPr>
          <a:lstStyle/>
          <a:p>
            <a:pPr algn="ctr" marL="0" indent="0" lvl="0">
              <a:lnSpc>
                <a:spcPts val="1816"/>
              </a:lnSpc>
              <a:spcBef>
                <a:spcPct val="0"/>
              </a:spcBef>
            </a:pPr>
            <a:r>
              <a:rPr lang="en-US" sz="1297">
                <a:solidFill>
                  <a:srgbClr val="000000"/>
                </a:solidFill>
                <a:latin typeface="Montserrat"/>
                <a:ea typeface="Montserrat"/>
                <a:cs typeface="Montserrat"/>
                <a:sym typeface="Montserrat"/>
              </a:rPr>
              <a:t>ABOUT</a:t>
            </a:r>
          </a:p>
        </p:txBody>
      </p:sp>
      <p:sp>
        <p:nvSpPr>
          <p:cNvPr name="TextBox 26" id="26"/>
          <p:cNvSpPr txBox="true"/>
          <p:nvPr/>
        </p:nvSpPr>
        <p:spPr>
          <a:xfrm rot="0">
            <a:off x="10237201" y="793875"/>
            <a:ext cx="2024119" cy="224226"/>
          </a:xfrm>
          <a:prstGeom prst="rect">
            <a:avLst/>
          </a:prstGeom>
        </p:spPr>
        <p:txBody>
          <a:bodyPr anchor="t" rtlCol="false" tIns="0" lIns="0" bIns="0" rIns="0">
            <a:spAutoFit/>
          </a:bodyPr>
          <a:lstStyle/>
          <a:p>
            <a:pPr algn="ctr" marL="0" indent="0" lvl="0">
              <a:lnSpc>
                <a:spcPts val="1816"/>
              </a:lnSpc>
              <a:spcBef>
                <a:spcPct val="0"/>
              </a:spcBef>
            </a:pPr>
            <a:r>
              <a:rPr lang="en-US" sz="1297" spc="150">
                <a:solidFill>
                  <a:srgbClr val="000000"/>
                </a:solidFill>
                <a:latin typeface="Montserrat"/>
                <a:ea typeface="Montserrat"/>
                <a:cs typeface="Montserrat"/>
                <a:sym typeface="Montserrat"/>
              </a:rPr>
              <a:t>CONTENT</a:t>
            </a:r>
          </a:p>
        </p:txBody>
      </p:sp>
      <p:sp>
        <p:nvSpPr>
          <p:cNvPr name="TextBox 27" id="27"/>
          <p:cNvSpPr txBox="true"/>
          <p:nvPr/>
        </p:nvSpPr>
        <p:spPr>
          <a:xfrm rot="0">
            <a:off x="12482593" y="793875"/>
            <a:ext cx="2349448" cy="224226"/>
          </a:xfrm>
          <a:prstGeom prst="rect">
            <a:avLst/>
          </a:prstGeom>
        </p:spPr>
        <p:txBody>
          <a:bodyPr anchor="t" rtlCol="false" tIns="0" lIns="0" bIns="0" rIns="0">
            <a:spAutoFit/>
          </a:bodyPr>
          <a:lstStyle/>
          <a:p>
            <a:pPr algn="ctr" marL="0" indent="0" lvl="0">
              <a:lnSpc>
                <a:spcPts val="1816"/>
              </a:lnSpc>
              <a:spcBef>
                <a:spcPct val="0"/>
              </a:spcBef>
            </a:pPr>
            <a:r>
              <a:rPr lang="en-US" sz="1297" spc="150">
                <a:solidFill>
                  <a:srgbClr val="000000"/>
                </a:solidFill>
                <a:latin typeface="Montserrat"/>
                <a:ea typeface="Montserrat"/>
                <a:cs typeface="Montserrat"/>
                <a:sym typeface="Montserrat"/>
              </a:rPr>
              <a:t>OTHERS</a:t>
            </a:r>
          </a:p>
        </p:txBody>
      </p:sp>
      <p:sp>
        <p:nvSpPr>
          <p:cNvPr name="TextBox 28" id="28"/>
          <p:cNvSpPr txBox="true"/>
          <p:nvPr/>
        </p:nvSpPr>
        <p:spPr>
          <a:xfrm rot="0">
            <a:off x="1654883" y="2472212"/>
            <a:ext cx="14978234" cy="1425505"/>
          </a:xfrm>
          <a:prstGeom prst="rect">
            <a:avLst/>
          </a:prstGeom>
        </p:spPr>
        <p:txBody>
          <a:bodyPr anchor="t" rtlCol="false" tIns="0" lIns="0" bIns="0" rIns="0">
            <a:spAutoFit/>
          </a:bodyPr>
          <a:lstStyle/>
          <a:p>
            <a:pPr algn="ctr" marL="0" indent="0" lvl="0">
              <a:lnSpc>
                <a:spcPts val="11753"/>
              </a:lnSpc>
            </a:pPr>
            <a:r>
              <a:rPr lang="en-US" b="true" sz="8395" spc="-562">
                <a:solidFill>
                  <a:srgbClr val="000000"/>
                </a:solidFill>
                <a:latin typeface="Montserrat Bold"/>
                <a:ea typeface="Montserrat Bold"/>
                <a:cs typeface="Montserrat Bold"/>
                <a:sym typeface="Montserrat Bold"/>
              </a:rPr>
              <a:t>Augmented &amp; Virtual Reality</a:t>
            </a:r>
          </a:p>
        </p:txBody>
      </p:sp>
      <p:sp>
        <p:nvSpPr>
          <p:cNvPr name="TextBox 29" id="29"/>
          <p:cNvSpPr txBox="true"/>
          <p:nvPr/>
        </p:nvSpPr>
        <p:spPr>
          <a:xfrm rot="0">
            <a:off x="4376705" y="4954643"/>
            <a:ext cx="9534589" cy="493510"/>
          </a:xfrm>
          <a:prstGeom prst="rect">
            <a:avLst/>
          </a:prstGeom>
        </p:spPr>
        <p:txBody>
          <a:bodyPr anchor="t" rtlCol="false" tIns="0" lIns="0" bIns="0" rIns="0">
            <a:spAutoFit/>
          </a:bodyPr>
          <a:lstStyle/>
          <a:p>
            <a:pPr algn="ctr" marL="0" indent="0" lvl="0">
              <a:lnSpc>
                <a:spcPts val="1954"/>
              </a:lnSpc>
            </a:pPr>
            <a:r>
              <a:rPr lang="en-US" sz="1491" spc="-53">
                <a:solidFill>
                  <a:srgbClr val="000000"/>
                </a:solidFill>
                <a:latin typeface="Montserrat"/>
                <a:ea typeface="Montserrat"/>
                <a:cs typeface="Montserrat"/>
                <a:sym typeface="Montserrat"/>
              </a:rPr>
              <a:t>Exploring how Augmented Reality (AR) and Virtual Reality (VR) are revolutionizing the tourism industry — transforming the way travelers discover, experience, and engage with destinations around the world.</a:t>
            </a:r>
          </a:p>
        </p:txBody>
      </p:sp>
      <p:sp>
        <p:nvSpPr>
          <p:cNvPr name="TextBox 30" id="30"/>
          <p:cNvSpPr txBox="true"/>
          <p:nvPr/>
        </p:nvSpPr>
        <p:spPr>
          <a:xfrm rot="0">
            <a:off x="1461629" y="8939422"/>
            <a:ext cx="15364742" cy="315716"/>
          </a:xfrm>
          <a:prstGeom prst="rect">
            <a:avLst/>
          </a:prstGeom>
        </p:spPr>
        <p:txBody>
          <a:bodyPr anchor="t" rtlCol="false" tIns="0" lIns="0" bIns="0" rIns="0">
            <a:spAutoFit/>
          </a:bodyPr>
          <a:lstStyle/>
          <a:p>
            <a:pPr algn="ctr" marL="0" indent="0" lvl="0">
              <a:lnSpc>
                <a:spcPts val="2549"/>
              </a:lnSpc>
            </a:pPr>
            <a:r>
              <a:rPr lang="en-US" b="true" sz="1945" spc="-70">
                <a:solidFill>
                  <a:srgbClr val="FFFFFF"/>
                </a:solidFill>
                <a:latin typeface="Montserrat Bold"/>
                <a:ea typeface="Montserrat Bold"/>
                <a:cs typeface="Montserrat Bold"/>
                <a:sym typeface="Montserrat Bold"/>
              </a:rPr>
              <a:t>AR &amp; VR IN TOURISM: TRANSFORMING TRAVEL EXPERIENCES - AR &amp; VR IN TOURISM: TRANSFORMING TRAVEL EXPERIENCES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1457525" y="2267813"/>
            <a:ext cx="5246370" cy="6649160"/>
            <a:chOff x="0" y="0"/>
            <a:chExt cx="812800" cy="1030129"/>
          </a:xfrm>
        </p:grpSpPr>
        <p:sp>
          <p:nvSpPr>
            <p:cNvPr name="Freeform 10" id="10"/>
            <p:cNvSpPr/>
            <p:nvPr/>
          </p:nvSpPr>
          <p:spPr>
            <a:xfrm flipH="false" flipV="false" rot="0">
              <a:off x="0" y="0"/>
              <a:ext cx="812800" cy="1030129"/>
            </a:xfrm>
            <a:custGeom>
              <a:avLst/>
              <a:gdLst/>
              <a:ahLst/>
              <a:cxnLst/>
              <a:rect r="r" b="b" t="t" l="l"/>
              <a:pathLst>
                <a:path h="1030129" w="812800">
                  <a:moveTo>
                    <a:pt x="60503" y="0"/>
                  </a:moveTo>
                  <a:lnTo>
                    <a:pt x="752297" y="0"/>
                  </a:lnTo>
                  <a:cubicBezTo>
                    <a:pt x="785712" y="0"/>
                    <a:pt x="812800" y="27088"/>
                    <a:pt x="812800" y="60503"/>
                  </a:cubicBezTo>
                  <a:lnTo>
                    <a:pt x="812800" y="969626"/>
                  </a:lnTo>
                  <a:cubicBezTo>
                    <a:pt x="812800" y="1003041"/>
                    <a:pt x="785712" y="1030129"/>
                    <a:pt x="752297" y="1030129"/>
                  </a:cubicBezTo>
                  <a:lnTo>
                    <a:pt x="60503" y="1030129"/>
                  </a:lnTo>
                  <a:cubicBezTo>
                    <a:pt x="27088" y="1030129"/>
                    <a:pt x="0" y="1003041"/>
                    <a:pt x="0" y="969626"/>
                  </a:cubicBezTo>
                  <a:lnTo>
                    <a:pt x="0" y="60503"/>
                  </a:lnTo>
                  <a:cubicBezTo>
                    <a:pt x="0" y="27088"/>
                    <a:pt x="27088" y="0"/>
                    <a:pt x="60503" y="0"/>
                  </a:cubicBezTo>
                  <a:close/>
                </a:path>
              </a:pathLst>
            </a:custGeom>
            <a:blipFill>
              <a:blip r:embed="rId4"/>
              <a:stretch>
                <a:fillRect l="0" t="-17" r="0" b="-17"/>
              </a:stretch>
            </a:blipFill>
          </p:spPr>
        </p:sp>
      </p:grpSp>
      <p:grpSp>
        <p:nvGrpSpPr>
          <p:cNvPr name="Group 11" id="11"/>
          <p:cNvGrpSpPr/>
          <p:nvPr/>
        </p:nvGrpSpPr>
        <p:grpSpPr>
          <a:xfrm rot="0">
            <a:off x="1126643" y="3024376"/>
            <a:ext cx="904854" cy="2610879"/>
            <a:chOff x="0" y="0"/>
            <a:chExt cx="238315" cy="687639"/>
          </a:xfrm>
        </p:grpSpPr>
        <p:sp>
          <p:nvSpPr>
            <p:cNvPr name="Freeform 12" id="1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3" id="1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4" id="14"/>
          <p:cNvGrpSpPr/>
          <p:nvPr/>
        </p:nvGrpSpPr>
        <p:grpSpPr>
          <a:xfrm rot="0">
            <a:off x="1126643" y="5511430"/>
            <a:ext cx="904854" cy="2610879"/>
            <a:chOff x="0" y="0"/>
            <a:chExt cx="238315" cy="687639"/>
          </a:xfrm>
        </p:grpSpPr>
        <p:sp>
          <p:nvSpPr>
            <p:cNvPr name="Freeform 15" id="1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6" id="1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0">
            <a:off x="5940229" y="6286362"/>
            <a:ext cx="1527333" cy="152733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Freeform 20" id="20"/>
          <p:cNvSpPr/>
          <p:nvPr/>
        </p:nvSpPr>
        <p:spPr>
          <a:xfrm flipH="false" flipV="false" rot="0">
            <a:off x="12248274" y="1196609"/>
            <a:ext cx="6031596" cy="6060594"/>
          </a:xfrm>
          <a:custGeom>
            <a:avLst/>
            <a:gdLst/>
            <a:ahLst/>
            <a:cxnLst/>
            <a:rect r="r" b="b" t="t" l="l"/>
            <a:pathLst>
              <a:path h="6060594" w="6031596">
                <a:moveTo>
                  <a:pt x="0" y="0"/>
                </a:moveTo>
                <a:lnTo>
                  <a:pt x="6031596" y="0"/>
                </a:lnTo>
                <a:lnTo>
                  <a:pt x="6031596" y="6060594"/>
                </a:lnTo>
                <a:lnTo>
                  <a:pt x="0" y="6060594"/>
                </a:lnTo>
                <a:lnTo>
                  <a:pt x="0" y="0"/>
                </a:lnTo>
                <a:close/>
              </a:path>
            </a:pathLst>
          </a:custGeom>
          <a:blipFill>
            <a:blip r:embed="rId5">
              <a:alphaModFix amt="70000"/>
            </a:blip>
            <a:stretch>
              <a:fillRect l="0" t="0" r="0" b="0"/>
            </a:stretch>
          </a:blipFill>
        </p:spPr>
      </p:sp>
      <p:grpSp>
        <p:nvGrpSpPr>
          <p:cNvPr name="Group 21" id="21"/>
          <p:cNvGrpSpPr/>
          <p:nvPr/>
        </p:nvGrpSpPr>
        <p:grpSpPr>
          <a:xfrm rot="0">
            <a:off x="8144729" y="8185170"/>
            <a:ext cx="2437000" cy="787252"/>
            <a:chOff x="0" y="0"/>
            <a:chExt cx="641844" cy="207342"/>
          </a:xfrm>
        </p:grpSpPr>
        <p:sp>
          <p:nvSpPr>
            <p:cNvPr name="Freeform 22" id="22"/>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3" id="23"/>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sp>
        <p:nvSpPr>
          <p:cNvPr name="TextBox 24" id="24"/>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5" id="25"/>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6" id="26"/>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b="true" sz="1998">
                <a:solidFill>
                  <a:srgbClr val="000000"/>
                </a:solidFill>
                <a:latin typeface="Montserrat Bold"/>
                <a:ea typeface="Montserrat Bold"/>
                <a:cs typeface="Montserrat Bold"/>
                <a:sym typeface="Montserrat Bold"/>
              </a:rPr>
              <a:t>ABOUT</a:t>
            </a:r>
          </a:p>
        </p:txBody>
      </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8059004" y="2206882"/>
            <a:ext cx="9114571" cy="1503045"/>
          </a:xfrm>
          <a:prstGeom prst="rect">
            <a:avLst/>
          </a:prstGeom>
        </p:spPr>
        <p:txBody>
          <a:bodyPr anchor="t" rtlCol="false" tIns="0" lIns="0" bIns="0" rIns="0">
            <a:spAutoFit/>
          </a:bodyPr>
          <a:lstStyle/>
          <a:p>
            <a:pPr algn="l" marL="0" indent="0" lvl="0">
              <a:lnSpc>
                <a:spcPts val="10890"/>
              </a:lnSpc>
            </a:pPr>
            <a:r>
              <a:rPr lang="en-US" b="true" sz="12375" spc="-829">
                <a:solidFill>
                  <a:srgbClr val="000000"/>
                </a:solidFill>
                <a:latin typeface="Montserrat Bold"/>
                <a:ea typeface="Montserrat Bold"/>
                <a:cs typeface="Montserrat Bold"/>
                <a:sym typeface="Montserrat Bold"/>
              </a:rPr>
              <a:t>Introduction</a:t>
            </a:r>
          </a:p>
        </p:txBody>
      </p:sp>
      <p:sp>
        <p:nvSpPr>
          <p:cNvPr name="TextBox 30" id="30"/>
          <p:cNvSpPr txBox="true"/>
          <p:nvPr/>
        </p:nvSpPr>
        <p:spPr>
          <a:xfrm rot="0">
            <a:off x="8239979" y="5550301"/>
            <a:ext cx="7654851" cy="2282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Augmented Reality (AR) and Virtual Reality (VR) are transforming the tourism industry. These immersive technologies enable travelers to explore destinations, cultural sites, and experiences in entirely new ways — bridging the physical and digital worlds to redefine how we discover and engage with the world.</a:t>
            </a:r>
          </a:p>
        </p:txBody>
      </p:sp>
    </p:spTree>
  </p:cSld>
  <p:clrMapOvr>
    <a:masterClrMapping/>
  </p:clrMapOvr>
  <p:transition spd="fast">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sp>
        <p:nvSpPr>
          <p:cNvPr name="Freeform 3" id="3"/>
          <p:cNvSpPr/>
          <p:nvPr/>
        </p:nvSpPr>
        <p:spPr>
          <a:xfrm flipH="false" flipV="false" rot="0">
            <a:off x="-9855852" y="-10368132"/>
            <a:ext cx="30162502" cy="31791833"/>
          </a:xfrm>
          <a:custGeom>
            <a:avLst/>
            <a:gdLst/>
            <a:ahLst/>
            <a:cxnLst/>
            <a:rect r="r" b="b" t="t" l="l"/>
            <a:pathLst>
              <a:path h="31791833" w="30162502">
                <a:moveTo>
                  <a:pt x="0" y="0"/>
                </a:moveTo>
                <a:lnTo>
                  <a:pt x="30162502" y="0"/>
                </a:lnTo>
                <a:lnTo>
                  <a:pt x="30162502" y="31791833"/>
                </a:lnTo>
                <a:lnTo>
                  <a:pt x="0" y="31791833"/>
                </a:lnTo>
                <a:lnTo>
                  <a:pt x="0" y="0"/>
                </a:lnTo>
                <a:close/>
              </a:path>
            </a:pathLst>
          </a:custGeom>
          <a:blipFill>
            <a:blip r:embed="rId4">
              <a:alphaModFix amt="70000"/>
            </a:blip>
            <a:stretch>
              <a:fillRect l="0" t="0" r="0" b="0"/>
            </a:stretch>
          </a:blipFill>
        </p:spPr>
      </p:sp>
      <p:grpSp>
        <p:nvGrpSpPr>
          <p:cNvPr name="Group 4" id="4"/>
          <p:cNvGrpSpPr/>
          <p:nvPr/>
        </p:nvGrpSpPr>
        <p:grpSpPr>
          <a:xfrm rot="0">
            <a:off x="795761" y="675765"/>
            <a:ext cx="147655" cy="627698"/>
            <a:chOff x="0" y="0"/>
            <a:chExt cx="38889" cy="165320"/>
          </a:xfrm>
        </p:grpSpPr>
        <p:sp>
          <p:nvSpPr>
            <p:cNvPr name="Freeform 5" id="5"/>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6" id="6"/>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10" id="10"/>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1" id="11"/>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2" id="12"/>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13" id="13"/>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AGENDA</a:t>
            </a:r>
          </a:p>
        </p:txBody>
      </p:sp>
      <p:sp>
        <p:nvSpPr>
          <p:cNvPr name="TextBox 14" id="14"/>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Freeform 15" id="15"/>
          <p:cNvSpPr/>
          <p:nvPr/>
        </p:nvSpPr>
        <p:spPr>
          <a:xfrm flipH="false" flipV="false" rot="0">
            <a:off x="10432357" y="3442503"/>
            <a:ext cx="5535482" cy="5591396"/>
          </a:xfrm>
          <a:custGeom>
            <a:avLst/>
            <a:gdLst/>
            <a:ahLst/>
            <a:cxnLst/>
            <a:rect r="r" b="b" t="t" l="l"/>
            <a:pathLst>
              <a:path h="5591396" w="5535482">
                <a:moveTo>
                  <a:pt x="0" y="0"/>
                </a:moveTo>
                <a:lnTo>
                  <a:pt x="5535482" y="0"/>
                </a:lnTo>
                <a:lnTo>
                  <a:pt x="5535482" y="5591395"/>
                </a:lnTo>
                <a:lnTo>
                  <a:pt x="0" y="5591395"/>
                </a:lnTo>
                <a:lnTo>
                  <a:pt x="0" y="0"/>
                </a:lnTo>
                <a:close/>
              </a:path>
            </a:pathLst>
          </a:custGeom>
          <a:blipFill>
            <a:blip r:embed="rId5">
              <a:alphaModFix amt="70000"/>
            </a:blip>
            <a:stretch>
              <a:fillRect l="0" t="0" r="0" b="0"/>
            </a:stretch>
          </a:blipFill>
        </p:spPr>
      </p:sp>
      <p:sp>
        <p:nvSpPr>
          <p:cNvPr name="TextBox 16" id="16"/>
          <p:cNvSpPr txBox="true"/>
          <p:nvPr/>
        </p:nvSpPr>
        <p:spPr>
          <a:xfrm rot="0">
            <a:off x="9304813" y="2150633"/>
            <a:ext cx="7654851" cy="1520444"/>
          </a:xfrm>
          <a:prstGeom prst="rect">
            <a:avLst/>
          </a:prstGeom>
        </p:spPr>
        <p:txBody>
          <a:bodyPr anchor="t" rtlCol="false" tIns="0" lIns="0" bIns="0" rIns="0">
            <a:spAutoFit/>
          </a:bodyPr>
          <a:lstStyle/>
          <a:p>
            <a:pPr algn="just" marL="0" indent="0" lvl="0">
              <a:lnSpc>
                <a:spcPts val="3012"/>
              </a:lnSpc>
            </a:pPr>
            <a:r>
              <a:rPr lang="en-US" sz="2299" spc="-82">
                <a:solidFill>
                  <a:srgbClr val="000000"/>
                </a:solidFill>
                <a:latin typeface="Montserrat"/>
                <a:ea typeface="Montserrat"/>
                <a:cs typeface="Montserrat"/>
                <a:sym typeface="Montserrat"/>
              </a:rPr>
              <a:t>This presentation covers the key themes of Augmented and Virtual Reality in Tourism — from foundational concepts to real-world applications and future directions.</a:t>
            </a:r>
          </a:p>
        </p:txBody>
      </p:sp>
      <p:grpSp>
        <p:nvGrpSpPr>
          <p:cNvPr name="Group 17" id="17"/>
          <p:cNvGrpSpPr/>
          <p:nvPr/>
        </p:nvGrpSpPr>
        <p:grpSpPr>
          <a:xfrm rot="0">
            <a:off x="9266713" y="4445074"/>
            <a:ext cx="2437000" cy="787252"/>
            <a:chOff x="0" y="0"/>
            <a:chExt cx="641844" cy="207342"/>
          </a:xfrm>
        </p:grpSpPr>
        <p:sp>
          <p:nvSpPr>
            <p:cNvPr name="Freeform 18" id="18"/>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9" id="19"/>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sp>
        <p:nvSpPr>
          <p:cNvPr name="TextBox 20" id="20"/>
          <p:cNvSpPr txBox="true"/>
          <p:nvPr/>
        </p:nvSpPr>
        <p:spPr>
          <a:xfrm rot="0">
            <a:off x="1028700" y="5813351"/>
            <a:ext cx="15930963" cy="1792238"/>
          </a:xfrm>
          <a:prstGeom prst="rect">
            <a:avLst/>
          </a:prstGeom>
        </p:spPr>
        <p:txBody>
          <a:bodyPr anchor="t" rtlCol="false" tIns="0" lIns="0" bIns="0" rIns="0">
            <a:spAutoFit/>
          </a:bodyPr>
          <a:lstStyle/>
          <a:p>
            <a:pPr algn="just" marL="0" indent="0" lvl="0">
              <a:lnSpc>
                <a:spcPts val="13720"/>
              </a:lnSpc>
            </a:pPr>
            <a:r>
              <a:rPr lang="en-US" b="true" sz="12943" spc="-867">
                <a:solidFill>
                  <a:srgbClr val="000000"/>
                </a:solidFill>
                <a:latin typeface="Montserrat Bold"/>
                <a:ea typeface="Montserrat Bold"/>
                <a:cs typeface="Montserrat Bold"/>
                <a:sym typeface="Montserrat Bold"/>
              </a:rPr>
              <a:t>Agenda Overview</a:t>
            </a:r>
          </a:p>
        </p:txBody>
      </p:sp>
      <p:grpSp>
        <p:nvGrpSpPr>
          <p:cNvPr name="Group 21" id="21"/>
          <p:cNvGrpSpPr/>
          <p:nvPr/>
        </p:nvGrpSpPr>
        <p:grpSpPr>
          <a:xfrm rot="5400000">
            <a:off x="15443591" y="7267262"/>
            <a:ext cx="664014" cy="2406231"/>
            <a:chOff x="0" y="0"/>
            <a:chExt cx="233328" cy="845528"/>
          </a:xfrm>
        </p:grpSpPr>
        <p:sp>
          <p:nvSpPr>
            <p:cNvPr name="Freeform 22" id="22"/>
            <p:cNvSpPr/>
            <p:nvPr/>
          </p:nvSpPr>
          <p:spPr>
            <a:xfrm flipH="false" flipV="false" rot="0">
              <a:off x="0" y="0"/>
              <a:ext cx="233328" cy="845528"/>
            </a:xfrm>
            <a:custGeom>
              <a:avLst/>
              <a:gdLst/>
              <a:ahLst/>
              <a:cxnLst/>
              <a:rect r="r" b="b" t="t" l="l"/>
              <a:pathLst>
                <a:path h="845528" w="233328">
                  <a:moveTo>
                    <a:pt x="116664" y="0"/>
                  </a:moveTo>
                  <a:lnTo>
                    <a:pt x="116664" y="0"/>
                  </a:lnTo>
                  <a:cubicBezTo>
                    <a:pt x="147605" y="0"/>
                    <a:pt x="177279" y="12291"/>
                    <a:pt x="199158" y="34170"/>
                  </a:cubicBezTo>
                  <a:cubicBezTo>
                    <a:pt x="221037" y="56049"/>
                    <a:pt x="233328" y="85723"/>
                    <a:pt x="233328" y="116664"/>
                  </a:cubicBezTo>
                  <a:lnTo>
                    <a:pt x="233328" y="728863"/>
                  </a:lnTo>
                  <a:cubicBezTo>
                    <a:pt x="233328" y="759805"/>
                    <a:pt x="221037" y="789479"/>
                    <a:pt x="199158" y="811357"/>
                  </a:cubicBezTo>
                  <a:cubicBezTo>
                    <a:pt x="177279" y="833236"/>
                    <a:pt x="147605" y="845528"/>
                    <a:pt x="116664" y="845528"/>
                  </a:cubicBezTo>
                  <a:lnTo>
                    <a:pt x="116664" y="845528"/>
                  </a:lnTo>
                  <a:cubicBezTo>
                    <a:pt x="85723" y="845528"/>
                    <a:pt x="56049" y="833236"/>
                    <a:pt x="34170" y="811357"/>
                  </a:cubicBezTo>
                  <a:cubicBezTo>
                    <a:pt x="12291" y="789479"/>
                    <a:pt x="0" y="759805"/>
                    <a:pt x="0" y="728863"/>
                  </a:cubicBezTo>
                  <a:lnTo>
                    <a:pt x="0" y="116664"/>
                  </a:lnTo>
                  <a:cubicBezTo>
                    <a:pt x="0" y="85723"/>
                    <a:pt x="12291" y="56049"/>
                    <a:pt x="34170" y="34170"/>
                  </a:cubicBezTo>
                  <a:cubicBezTo>
                    <a:pt x="56049" y="12291"/>
                    <a:pt x="85723" y="0"/>
                    <a:pt x="116664" y="0"/>
                  </a:cubicBezTo>
                  <a:close/>
                </a:path>
              </a:pathLst>
            </a:custGeom>
            <a:solidFill>
              <a:srgbClr val="000000"/>
            </a:solidFill>
            <a:ln cap="rnd">
              <a:noFill/>
              <a:prstDash val="solid"/>
              <a:round/>
            </a:ln>
          </p:spPr>
        </p:sp>
        <p:sp>
          <p:nvSpPr>
            <p:cNvPr name="TextBox 23" id="23"/>
            <p:cNvSpPr txBox="true"/>
            <p:nvPr/>
          </p:nvSpPr>
          <p:spPr>
            <a:xfrm>
              <a:off x="0" y="-38100"/>
              <a:ext cx="233328" cy="883628"/>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5400000">
            <a:off x="13094419" y="7324321"/>
            <a:ext cx="664014" cy="2292112"/>
            <a:chOff x="0" y="0"/>
            <a:chExt cx="233328" cy="805427"/>
          </a:xfrm>
        </p:grpSpPr>
        <p:sp>
          <p:nvSpPr>
            <p:cNvPr name="Freeform 25" id="25"/>
            <p:cNvSpPr/>
            <p:nvPr/>
          </p:nvSpPr>
          <p:spPr>
            <a:xfrm flipH="false" flipV="false" rot="0">
              <a:off x="0" y="0"/>
              <a:ext cx="233328" cy="805427"/>
            </a:xfrm>
            <a:custGeom>
              <a:avLst/>
              <a:gdLst/>
              <a:ahLst/>
              <a:cxnLst/>
              <a:rect r="r" b="b" t="t" l="l"/>
              <a:pathLst>
                <a:path h="805427" w="233328">
                  <a:moveTo>
                    <a:pt x="116664" y="0"/>
                  </a:moveTo>
                  <a:lnTo>
                    <a:pt x="116664" y="0"/>
                  </a:lnTo>
                  <a:cubicBezTo>
                    <a:pt x="147605" y="0"/>
                    <a:pt x="177279" y="12291"/>
                    <a:pt x="199158" y="34170"/>
                  </a:cubicBezTo>
                  <a:cubicBezTo>
                    <a:pt x="221037" y="56049"/>
                    <a:pt x="233328" y="85723"/>
                    <a:pt x="233328" y="116664"/>
                  </a:cubicBezTo>
                  <a:lnTo>
                    <a:pt x="233328" y="688763"/>
                  </a:lnTo>
                  <a:cubicBezTo>
                    <a:pt x="233328" y="719704"/>
                    <a:pt x="221037" y="749378"/>
                    <a:pt x="199158" y="771257"/>
                  </a:cubicBezTo>
                  <a:cubicBezTo>
                    <a:pt x="177279" y="793136"/>
                    <a:pt x="147605" y="805427"/>
                    <a:pt x="116664" y="805427"/>
                  </a:cubicBezTo>
                  <a:lnTo>
                    <a:pt x="116664" y="805427"/>
                  </a:lnTo>
                  <a:cubicBezTo>
                    <a:pt x="85723" y="805427"/>
                    <a:pt x="56049" y="793136"/>
                    <a:pt x="34170" y="771257"/>
                  </a:cubicBezTo>
                  <a:cubicBezTo>
                    <a:pt x="12291" y="749378"/>
                    <a:pt x="0" y="719704"/>
                    <a:pt x="0" y="688763"/>
                  </a:cubicBezTo>
                  <a:lnTo>
                    <a:pt x="0" y="116664"/>
                  </a:lnTo>
                  <a:cubicBezTo>
                    <a:pt x="0" y="85723"/>
                    <a:pt x="12291" y="56049"/>
                    <a:pt x="34170" y="34170"/>
                  </a:cubicBezTo>
                  <a:cubicBezTo>
                    <a:pt x="56049" y="12291"/>
                    <a:pt x="85723" y="0"/>
                    <a:pt x="116664" y="0"/>
                  </a:cubicBezTo>
                  <a:close/>
                </a:path>
              </a:pathLst>
            </a:custGeom>
            <a:solidFill>
              <a:srgbClr val="B4E100"/>
            </a:solidFill>
            <a:ln cap="rnd">
              <a:noFill/>
              <a:prstDash val="solid"/>
              <a:round/>
            </a:ln>
          </p:spPr>
        </p:sp>
        <p:sp>
          <p:nvSpPr>
            <p:cNvPr name="TextBox 26" id="26"/>
            <p:cNvSpPr txBox="true"/>
            <p:nvPr/>
          </p:nvSpPr>
          <p:spPr>
            <a:xfrm>
              <a:off x="0" y="-38100"/>
              <a:ext cx="233328" cy="843527"/>
            </a:xfrm>
            <a:prstGeom prst="rect">
              <a:avLst/>
            </a:prstGeom>
          </p:spPr>
          <p:txBody>
            <a:bodyPr anchor="ctr" rtlCol="false" tIns="50800" lIns="50800" bIns="50800" rIns="50800"/>
            <a:lstStyle/>
            <a:p>
              <a:pPr algn="ctr" marL="0" indent="0" lvl="0">
                <a:lnSpc>
                  <a:spcPts val="2800"/>
                </a:lnSpc>
              </a:pPr>
            </a:p>
          </p:txBody>
        </p:sp>
      </p:grpSp>
      <p:grpSp>
        <p:nvGrpSpPr>
          <p:cNvPr name="Group 27" id="27"/>
          <p:cNvGrpSpPr/>
          <p:nvPr/>
        </p:nvGrpSpPr>
        <p:grpSpPr>
          <a:xfrm rot="0">
            <a:off x="1126643" y="2179208"/>
            <a:ext cx="904424" cy="904424"/>
            <a:chOff x="0" y="0"/>
            <a:chExt cx="673100" cy="673100"/>
          </a:xfrm>
        </p:grpSpPr>
        <p:sp>
          <p:nvSpPr>
            <p:cNvPr name="Freeform 28" id="2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00000"/>
            </a:solidFill>
          </p:spPr>
        </p:sp>
        <p:sp>
          <p:nvSpPr>
            <p:cNvPr name="TextBox 29" id="2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transition spd="fast">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280531"/>
          </a:xfrm>
          <a:prstGeom prst="rect">
            <a:avLst/>
          </a:prstGeom>
        </p:spPr>
        <p:txBody>
          <a:bodyPr anchor="t" rtlCol="false" tIns="0" lIns="0" bIns="0" rIns="0">
            <a:spAutoFit/>
          </a:bodyPr>
          <a:lstStyle/>
          <a:p>
            <a:pPr algn="ctr" marL="0" indent="0" lvl="0">
              <a:lnSpc>
                <a:spcPts val="2387"/>
              </a:lnSpc>
              <a:spcBef>
                <a:spcPct val="0"/>
              </a:spcBef>
            </a:pPr>
            <a:r>
              <a:rPr lang="en-US" sz="1705" spc="197">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80531"/>
          </a:xfrm>
          <a:prstGeom prst="rect">
            <a:avLst/>
          </a:prstGeom>
        </p:spPr>
        <p:txBody>
          <a:bodyPr anchor="t" rtlCol="false" tIns="0" lIns="0" bIns="0" rIns="0">
            <a:spAutoFit/>
          </a:bodyPr>
          <a:lstStyle/>
          <a:p>
            <a:pPr algn="ctr" marL="0" indent="0" lvl="0">
              <a:lnSpc>
                <a:spcPts val="2387"/>
              </a:lnSpc>
              <a:spcBef>
                <a:spcPct val="0"/>
              </a:spcBef>
            </a:pPr>
            <a:r>
              <a:rPr lang="en-US" sz="1705">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280531"/>
          </a:xfrm>
          <a:prstGeom prst="rect">
            <a:avLst/>
          </a:prstGeom>
        </p:spPr>
        <p:txBody>
          <a:bodyPr anchor="t" rtlCol="false" tIns="0" lIns="0" bIns="0" rIns="0">
            <a:spAutoFit/>
          </a:bodyPr>
          <a:lstStyle/>
          <a:p>
            <a:pPr algn="ctr" marL="0" indent="0" lvl="0">
              <a:lnSpc>
                <a:spcPts val="2387"/>
              </a:lnSpc>
              <a:spcBef>
                <a:spcPct val="0"/>
              </a:spcBef>
            </a:pPr>
            <a:r>
              <a:rPr lang="en-US" sz="1705" spc="197">
                <a:solidFill>
                  <a:srgbClr val="000000"/>
                </a:solidFill>
                <a:latin typeface="Montserrat"/>
                <a:ea typeface="Montserrat"/>
                <a:cs typeface="Montserrat"/>
                <a:sym typeface="Montserrat"/>
              </a:rPr>
              <a:t>OTHERS</a:t>
            </a:r>
          </a:p>
        </p:txBody>
      </p:sp>
      <p:sp>
        <p:nvSpPr>
          <p:cNvPr name="TextBox 29" id="29"/>
          <p:cNvSpPr txBox="true"/>
          <p:nvPr/>
        </p:nvSpPr>
        <p:spPr>
          <a:xfrm rot="0">
            <a:off x="1161686" y="2420516"/>
            <a:ext cx="16097614" cy="1609672"/>
          </a:xfrm>
          <a:prstGeom prst="rect">
            <a:avLst/>
          </a:prstGeom>
        </p:spPr>
        <p:txBody>
          <a:bodyPr anchor="t" rtlCol="false" tIns="0" lIns="0" bIns="0" rIns="0">
            <a:spAutoFit/>
          </a:bodyPr>
          <a:lstStyle/>
          <a:p>
            <a:pPr algn="l" marL="0" indent="0" lvl="0">
              <a:lnSpc>
                <a:spcPts val="11730"/>
              </a:lnSpc>
            </a:pPr>
            <a:r>
              <a:rPr lang="en-US" b="true" sz="13330" spc="-893">
                <a:solidFill>
                  <a:srgbClr val="000000"/>
                </a:solidFill>
                <a:latin typeface="Montserrat Bold"/>
                <a:ea typeface="Montserrat Bold"/>
                <a:cs typeface="Montserrat Bold"/>
                <a:sym typeface="Montserrat Bold"/>
              </a:rPr>
              <a:t>Evolution of AR &amp; VR</a:t>
            </a:r>
          </a:p>
        </p:txBody>
      </p:sp>
      <p:sp>
        <p:nvSpPr>
          <p:cNvPr name="TextBox 30" id="30"/>
          <p:cNvSpPr txBox="true"/>
          <p:nvPr/>
        </p:nvSpPr>
        <p:spPr>
          <a:xfrm rot="0">
            <a:off x="1247411" y="5617043"/>
            <a:ext cx="6823854" cy="1620426"/>
          </a:xfrm>
          <a:prstGeom prst="rect">
            <a:avLst/>
          </a:prstGeom>
        </p:spPr>
        <p:txBody>
          <a:bodyPr anchor="t" rtlCol="false" tIns="0" lIns="0" bIns="0" rIns="0">
            <a:spAutoFit/>
          </a:bodyPr>
          <a:lstStyle/>
          <a:p>
            <a:pPr algn="just" marL="0" indent="0" lvl="0">
              <a:lnSpc>
                <a:spcPts val="2569"/>
              </a:lnSpc>
            </a:pPr>
            <a:r>
              <a:rPr lang="en-US" sz="1961" spc="-70">
                <a:solidFill>
                  <a:srgbClr val="000000"/>
                </a:solidFill>
                <a:latin typeface="Montserrat"/>
                <a:ea typeface="Montserrat"/>
                <a:cs typeface="Montserrat"/>
                <a:sym typeface="Montserrat"/>
              </a:rPr>
              <a:t>From Ivan Sutherland's 1968 head-mounted display to today's immersive tourism experiences, AR and VR have evolved dramatically. The 1990s saw early VR arcades, while the 2010s brought smartphones and affordable headsets, enabling mainstream adoption in travel and tourism.</a:t>
            </a:r>
          </a:p>
        </p:txBody>
      </p:sp>
    </p:spTree>
  </p:cSld>
  <p:clrMapOvr>
    <a:masterClrMapping/>
  </p:clrMapOvr>
  <p:transition spd="fast">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1104022" y="1222063"/>
            <a:ext cx="6910721" cy="6910721"/>
          </a:xfrm>
          <a:custGeom>
            <a:avLst/>
            <a:gdLst/>
            <a:ahLst/>
            <a:cxnLst/>
            <a:rect r="r" b="b" t="t" l="l"/>
            <a:pathLst>
              <a:path h="6910721" w="6910721">
                <a:moveTo>
                  <a:pt x="0" y="0"/>
                </a:moveTo>
                <a:lnTo>
                  <a:pt x="6910721" y="0"/>
                </a:lnTo>
                <a:lnTo>
                  <a:pt x="6910721"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10" id="10"/>
          <p:cNvSpPr txBox="true"/>
          <p:nvPr/>
        </p:nvSpPr>
        <p:spPr>
          <a:xfrm rot="0">
            <a:off x="1028700" y="2349345"/>
            <a:ext cx="12413959" cy="3525627"/>
          </a:xfrm>
          <a:prstGeom prst="rect">
            <a:avLst/>
          </a:prstGeom>
        </p:spPr>
        <p:txBody>
          <a:bodyPr anchor="t" rtlCol="false" tIns="0" lIns="0" bIns="0" rIns="0">
            <a:spAutoFit/>
          </a:bodyPr>
          <a:lstStyle/>
          <a:p>
            <a:pPr algn="l" marL="0" indent="0" lvl="0">
              <a:lnSpc>
                <a:spcPts val="13710"/>
              </a:lnSpc>
            </a:pPr>
            <a:r>
              <a:rPr lang="en-US" b="true" sz="12934" spc="-866">
                <a:solidFill>
                  <a:srgbClr val="000000"/>
                </a:solidFill>
                <a:latin typeface="Montserrat Bold"/>
                <a:ea typeface="Montserrat Bold"/>
                <a:cs typeface="Montserrat Bold"/>
                <a:sym typeface="Montserrat Bold"/>
              </a:rPr>
              <a:t>AR vs VR</a:t>
            </a:r>
          </a:p>
          <a:p>
            <a:pPr algn="l" marL="0" indent="0" lvl="0">
              <a:lnSpc>
                <a:spcPts val="13710"/>
              </a:lnSpc>
            </a:pPr>
            <a:r>
              <a:rPr lang="en-US" b="true" sz="12934" spc="-866">
                <a:solidFill>
                  <a:srgbClr val="000000"/>
                </a:solidFill>
                <a:latin typeface="Montserrat Bold"/>
                <a:ea typeface="Montserrat Bold"/>
                <a:cs typeface="Montserrat Bold"/>
                <a:sym typeface="Montserrat Bold"/>
              </a:rPr>
              <a:t>Compared</a:t>
            </a:r>
          </a:p>
        </p:txBody>
      </p:sp>
      <p:grpSp>
        <p:nvGrpSpPr>
          <p:cNvPr name="Group 11" id="11"/>
          <p:cNvGrpSpPr/>
          <p:nvPr/>
        </p:nvGrpSpPr>
        <p:grpSpPr>
          <a:xfrm rot="0">
            <a:off x="1104022" y="8240239"/>
            <a:ext cx="2437000" cy="787252"/>
            <a:chOff x="0" y="0"/>
            <a:chExt cx="641844" cy="207342"/>
          </a:xfrm>
        </p:grpSpPr>
        <p:sp>
          <p:nvSpPr>
            <p:cNvPr name="Freeform 12" id="12"/>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3" id="13"/>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4" id="14"/>
          <p:cNvGrpSpPr/>
          <p:nvPr/>
        </p:nvGrpSpPr>
        <p:grpSpPr>
          <a:xfrm rot="0">
            <a:off x="9502797" y="4810936"/>
            <a:ext cx="4810212" cy="4216555"/>
            <a:chOff x="0" y="0"/>
            <a:chExt cx="745228" cy="653255"/>
          </a:xfrm>
        </p:grpSpPr>
        <p:sp>
          <p:nvSpPr>
            <p:cNvPr name="Freeform 15" id="15"/>
            <p:cNvSpPr/>
            <p:nvPr/>
          </p:nvSpPr>
          <p:spPr>
            <a:xfrm flipH="false" flipV="false" rot="0">
              <a:off x="0" y="0"/>
              <a:ext cx="745228" cy="653255"/>
            </a:xfrm>
            <a:custGeom>
              <a:avLst/>
              <a:gdLst/>
              <a:ahLst/>
              <a:cxnLst/>
              <a:rect r="r" b="b" t="t" l="l"/>
              <a:pathLst>
                <a:path h="653255" w="745228">
                  <a:moveTo>
                    <a:pt x="65989" y="0"/>
                  </a:moveTo>
                  <a:lnTo>
                    <a:pt x="679239" y="0"/>
                  </a:lnTo>
                  <a:cubicBezTo>
                    <a:pt x="715684" y="0"/>
                    <a:pt x="745228" y="29544"/>
                    <a:pt x="745228" y="65989"/>
                  </a:cubicBezTo>
                  <a:lnTo>
                    <a:pt x="745228" y="587266"/>
                  </a:lnTo>
                  <a:cubicBezTo>
                    <a:pt x="745228" y="604767"/>
                    <a:pt x="738275" y="621552"/>
                    <a:pt x="725900" y="633927"/>
                  </a:cubicBezTo>
                  <a:cubicBezTo>
                    <a:pt x="713525" y="646302"/>
                    <a:pt x="696740" y="653255"/>
                    <a:pt x="679239" y="653255"/>
                  </a:cubicBezTo>
                  <a:lnTo>
                    <a:pt x="65989" y="653255"/>
                  </a:lnTo>
                  <a:cubicBezTo>
                    <a:pt x="29544" y="653255"/>
                    <a:pt x="0" y="623711"/>
                    <a:pt x="0" y="587266"/>
                  </a:cubicBezTo>
                  <a:lnTo>
                    <a:pt x="0" y="65989"/>
                  </a:lnTo>
                  <a:cubicBezTo>
                    <a:pt x="0" y="29544"/>
                    <a:pt x="29544" y="0"/>
                    <a:pt x="65989" y="0"/>
                  </a:cubicBezTo>
                  <a:close/>
                </a:path>
              </a:pathLst>
            </a:custGeom>
            <a:blipFill>
              <a:blip r:embed="rId6"/>
              <a:stretch>
                <a:fillRect l="-19" t="0" r="-19" b="0"/>
              </a:stretch>
            </a:blipFill>
          </p:spPr>
        </p:sp>
      </p:grpSp>
      <p:grpSp>
        <p:nvGrpSpPr>
          <p:cNvPr name="Group 16" id="16"/>
          <p:cNvGrpSpPr/>
          <p:nvPr/>
        </p:nvGrpSpPr>
        <p:grpSpPr>
          <a:xfrm rot="-5400000">
            <a:off x="13644250" y="2146490"/>
            <a:ext cx="736403" cy="2543340"/>
            <a:chOff x="0" y="0"/>
            <a:chExt cx="238315" cy="823078"/>
          </a:xfrm>
        </p:grpSpPr>
        <p:sp>
          <p:nvSpPr>
            <p:cNvPr name="Freeform 17" id="17"/>
            <p:cNvSpPr/>
            <p:nvPr/>
          </p:nvSpPr>
          <p:spPr>
            <a:xfrm flipH="false" flipV="false" rot="0">
              <a:off x="0" y="0"/>
              <a:ext cx="238315" cy="823078"/>
            </a:xfrm>
            <a:custGeom>
              <a:avLst/>
              <a:gdLst/>
              <a:ahLst/>
              <a:cxnLst/>
              <a:rect r="r" b="b" t="t" l="l"/>
              <a:pathLst>
                <a:path h="823078" w="238315">
                  <a:moveTo>
                    <a:pt x="119158" y="0"/>
                  </a:moveTo>
                  <a:lnTo>
                    <a:pt x="119158" y="0"/>
                  </a:lnTo>
                  <a:cubicBezTo>
                    <a:pt x="184967" y="0"/>
                    <a:pt x="238315" y="53349"/>
                    <a:pt x="238315" y="119158"/>
                  </a:cubicBezTo>
                  <a:lnTo>
                    <a:pt x="238315" y="703921"/>
                  </a:lnTo>
                  <a:cubicBezTo>
                    <a:pt x="238315" y="769730"/>
                    <a:pt x="184967" y="823078"/>
                    <a:pt x="119158" y="823078"/>
                  </a:cubicBezTo>
                  <a:lnTo>
                    <a:pt x="119158" y="823078"/>
                  </a:lnTo>
                  <a:cubicBezTo>
                    <a:pt x="53349" y="823078"/>
                    <a:pt x="0" y="769730"/>
                    <a:pt x="0" y="703921"/>
                  </a:cubicBezTo>
                  <a:lnTo>
                    <a:pt x="0" y="119158"/>
                  </a:lnTo>
                  <a:cubicBezTo>
                    <a:pt x="0" y="53349"/>
                    <a:pt x="53349" y="0"/>
                    <a:pt x="119158" y="0"/>
                  </a:cubicBezTo>
                  <a:close/>
                </a:path>
              </a:pathLst>
            </a:custGeom>
            <a:solidFill>
              <a:srgbClr val="B4E100"/>
            </a:solidFill>
            <a:ln cap="rnd">
              <a:noFill/>
              <a:prstDash val="solid"/>
              <a:round/>
            </a:ln>
          </p:spPr>
        </p:sp>
        <p:sp>
          <p:nvSpPr>
            <p:cNvPr name="TextBox 18" id="18"/>
            <p:cNvSpPr txBox="true"/>
            <p:nvPr/>
          </p:nvSpPr>
          <p:spPr>
            <a:xfrm>
              <a:off x="0" y="-38100"/>
              <a:ext cx="238315" cy="861178"/>
            </a:xfrm>
            <a:prstGeom prst="rect">
              <a:avLst/>
            </a:prstGeom>
          </p:spPr>
          <p:txBody>
            <a:bodyPr anchor="ctr" rtlCol="false" tIns="50800" lIns="50800" bIns="50800" rIns="50800"/>
            <a:lstStyle/>
            <a:p>
              <a:pPr algn="ctr" marL="0" indent="0" lvl="0">
                <a:lnSpc>
                  <a:spcPts val="2800"/>
                </a:lnSpc>
              </a:pPr>
            </a:p>
          </p:txBody>
        </p:sp>
      </p:grpSp>
      <p:grpSp>
        <p:nvGrpSpPr>
          <p:cNvPr name="Group 19" id="19"/>
          <p:cNvGrpSpPr/>
          <p:nvPr/>
        </p:nvGrpSpPr>
        <p:grpSpPr>
          <a:xfrm rot="-5400000">
            <a:off x="16127280" y="2206801"/>
            <a:ext cx="736403" cy="2422719"/>
            <a:chOff x="0" y="0"/>
            <a:chExt cx="238315" cy="784043"/>
          </a:xfrm>
        </p:grpSpPr>
        <p:sp>
          <p:nvSpPr>
            <p:cNvPr name="Freeform 20" id="20"/>
            <p:cNvSpPr/>
            <p:nvPr/>
          </p:nvSpPr>
          <p:spPr>
            <a:xfrm flipH="false" flipV="false" rot="0">
              <a:off x="0" y="0"/>
              <a:ext cx="238315" cy="784043"/>
            </a:xfrm>
            <a:custGeom>
              <a:avLst/>
              <a:gdLst/>
              <a:ahLst/>
              <a:cxnLst/>
              <a:rect r="r" b="b" t="t" l="l"/>
              <a:pathLst>
                <a:path h="784043" w="238315">
                  <a:moveTo>
                    <a:pt x="119158" y="0"/>
                  </a:moveTo>
                  <a:lnTo>
                    <a:pt x="119158" y="0"/>
                  </a:lnTo>
                  <a:cubicBezTo>
                    <a:pt x="184967" y="0"/>
                    <a:pt x="238315" y="53349"/>
                    <a:pt x="238315" y="119158"/>
                  </a:cubicBezTo>
                  <a:lnTo>
                    <a:pt x="238315" y="664885"/>
                  </a:lnTo>
                  <a:cubicBezTo>
                    <a:pt x="238315" y="730694"/>
                    <a:pt x="184967" y="784043"/>
                    <a:pt x="119158" y="784043"/>
                  </a:cubicBezTo>
                  <a:lnTo>
                    <a:pt x="119158" y="784043"/>
                  </a:lnTo>
                  <a:cubicBezTo>
                    <a:pt x="53349" y="784043"/>
                    <a:pt x="0" y="730694"/>
                    <a:pt x="0" y="664885"/>
                  </a:cubicBezTo>
                  <a:lnTo>
                    <a:pt x="0" y="119158"/>
                  </a:lnTo>
                  <a:cubicBezTo>
                    <a:pt x="0" y="53349"/>
                    <a:pt x="53349" y="0"/>
                    <a:pt x="119158" y="0"/>
                  </a:cubicBezTo>
                  <a:close/>
                </a:path>
              </a:pathLst>
            </a:custGeom>
            <a:solidFill>
              <a:srgbClr val="000000"/>
            </a:solidFill>
            <a:ln cap="rnd">
              <a:noFill/>
              <a:prstDash val="solid"/>
              <a:round/>
            </a:ln>
          </p:spPr>
        </p:sp>
        <p:sp>
          <p:nvSpPr>
            <p:cNvPr name="TextBox 21" id="21"/>
            <p:cNvSpPr txBox="true"/>
            <p:nvPr/>
          </p:nvSpPr>
          <p:spPr>
            <a:xfrm>
              <a:off x="0" y="-38100"/>
              <a:ext cx="238315" cy="822143"/>
            </a:xfrm>
            <a:prstGeom prst="rect">
              <a:avLst/>
            </a:prstGeom>
          </p:spPr>
          <p:txBody>
            <a:bodyPr anchor="ctr" rtlCol="false" tIns="50800" lIns="50800" bIns="50800" rIns="50800"/>
            <a:lstStyle/>
            <a:p>
              <a:pPr algn="ctr" marL="0" indent="0" lvl="0">
                <a:lnSpc>
                  <a:spcPts val="2800"/>
                </a:lnSpc>
              </a:pPr>
            </a:p>
          </p:txBody>
        </p:sp>
      </p:grpSp>
      <p:grpSp>
        <p:nvGrpSpPr>
          <p:cNvPr name="Group 22" id="22"/>
          <p:cNvGrpSpPr/>
          <p:nvPr/>
        </p:nvGrpSpPr>
        <p:grpSpPr>
          <a:xfrm rot="0">
            <a:off x="9005076" y="5522708"/>
            <a:ext cx="1232125" cy="1232125"/>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grpSp>
        <p:nvGrpSpPr>
          <p:cNvPr name="Group 25" id="25"/>
          <p:cNvGrpSpPr/>
          <p:nvPr/>
        </p:nvGrpSpPr>
        <p:grpSpPr>
          <a:xfrm rot="0">
            <a:off x="14696230" y="4810936"/>
            <a:ext cx="4810212" cy="4216555"/>
            <a:chOff x="0" y="0"/>
            <a:chExt cx="745228" cy="653255"/>
          </a:xfrm>
        </p:grpSpPr>
        <p:sp>
          <p:nvSpPr>
            <p:cNvPr name="Freeform 26" id="26"/>
            <p:cNvSpPr/>
            <p:nvPr/>
          </p:nvSpPr>
          <p:spPr>
            <a:xfrm flipH="false" flipV="false" rot="0">
              <a:off x="0" y="0"/>
              <a:ext cx="745228" cy="653255"/>
            </a:xfrm>
            <a:custGeom>
              <a:avLst/>
              <a:gdLst/>
              <a:ahLst/>
              <a:cxnLst/>
              <a:rect r="r" b="b" t="t" l="l"/>
              <a:pathLst>
                <a:path h="653255" w="745228">
                  <a:moveTo>
                    <a:pt x="65989" y="0"/>
                  </a:moveTo>
                  <a:lnTo>
                    <a:pt x="679239" y="0"/>
                  </a:lnTo>
                  <a:cubicBezTo>
                    <a:pt x="715684" y="0"/>
                    <a:pt x="745228" y="29544"/>
                    <a:pt x="745228" y="65989"/>
                  </a:cubicBezTo>
                  <a:lnTo>
                    <a:pt x="745228" y="587266"/>
                  </a:lnTo>
                  <a:cubicBezTo>
                    <a:pt x="745228" y="604767"/>
                    <a:pt x="738275" y="621552"/>
                    <a:pt x="725900" y="633927"/>
                  </a:cubicBezTo>
                  <a:cubicBezTo>
                    <a:pt x="713525" y="646302"/>
                    <a:pt x="696740" y="653255"/>
                    <a:pt x="679239" y="653255"/>
                  </a:cubicBezTo>
                  <a:lnTo>
                    <a:pt x="65989" y="653255"/>
                  </a:lnTo>
                  <a:cubicBezTo>
                    <a:pt x="29544" y="653255"/>
                    <a:pt x="0" y="623711"/>
                    <a:pt x="0" y="587266"/>
                  </a:cubicBezTo>
                  <a:lnTo>
                    <a:pt x="0" y="65989"/>
                  </a:lnTo>
                  <a:cubicBezTo>
                    <a:pt x="0" y="29544"/>
                    <a:pt x="29544" y="0"/>
                    <a:pt x="65989" y="0"/>
                  </a:cubicBezTo>
                  <a:close/>
                </a:path>
              </a:pathLst>
            </a:custGeom>
            <a:blipFill>
              <a:blip r:embed="rId7"/>
              <a:stretch>
                <a:fillRect l="-19" t="0" r="-19" b="0"/>
              </a:stretch>
            </a:blipFill>
          </p:spPr>
        </p:sp>
      </p:grpSp>
      <p:sp>
        <p:nvSpPr>
          <p:cNvPr name="TextBox 27" id="27"/>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CONSULTING REPORT</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8" id="28"/>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9" id="29"/>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30" id="30"/>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31" id="31"/>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32" id="32"/>
          <p:cNvSpPr txBox="true"/>
          <p:nvPr/>
        </p:nvSpPr>
        <p:spPr>
          <a:xfrm rot="0">
            <a:off x="1173632" y="6014945"/>
            <a:ext cx="7145879" cy="1704301"/>
          </a:xfrm>
          <a:prstGeom prst="rect">
            <a:avLst/>
          </a:prstGeom>
        </p:spPr>
        <p:txBody>
          <a:bodyPr anchor="t" rtlCol="false" tIns="0" lIns="0" bIns="0" rIns="0">
            <a:spAutoFit/>
          </a:bodyPr>
          <a:lstStyle/>
          <a:p>
            <a:pPr algn="just" marL="0" indent="0" lvl="0">
              <a:lnSpc>
                <a:spcPts val="2742"/>
              </a:lnSpc>
            </a:pPr>
            <a:r>
              <a:rPr lang="en-US" sz="2093" spc="-75">
                <a:solidFill>
                  <a:srgbClr val="000000"/>
                </a:solidFill>
                <a:latin typeface="Montserrat"/>
                <a:ea typeface="Montserrat"/>
                <a:cs typeface="Montserrat"/>
                <a:sym typeface="Montserrat"/>
              </a:rPr>
              <a:t>AR overlays digital content onto the real world, enhancing surroundings with info layers — ideal for navigation and on-site museum guides. VR immerses users in fully virtual environments, perfect for remote destination previews and virtual hotel tours before booking.</a:t>
            </a:r>
          </a:p>
        </p:txBody>
      </p:sp>
    </p:spTree>
  </p:cSld>
  <p:clrMapOvr>
    <a:masterClrMapping/>
  </p:clrMapOvr>
  <p:transition spd="fast">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05801"/>
            <a:ext cx="3710438" cy="472217"/>
          </a:xfrm>
          <a:prstGeom prst="rect">
            <a:avLst/>
          </a:prstGeom>
        </p:spPr>
        <p:txBody>
          <a:bodyPr anchor="t" rtlCol="false" tIns="0" lIns="0" bIns="0" rIns="0">
            <a:spAutoFit/>
          </a:bodyPr>
          <a:lstStyle/>
          <a:p>
            <a:pPr algn="l" marL="0" indent="0" lvl="0">
              <a:lnSpc>
                <a:spcPts val="1863"/>
              </a:lnSpc>
            </a:pPr>
            <a:r>
              <a:rPr lang="en-US" b="true" sz="1901" spc="51">
                <a:solidFill>
                  <a:srgbClr val="000000"/>
                </a:solidFill>
                <a:latin typeface="Montserrat Bold"/>
                <a:ea typeface="Montserrat Bold"/>
                <a:cs typeface="Montserrat Bold"/>
                <a:sym typeface="Montserrat Bold"/>
              </a:rPr>
              <a:t>AR &amp; VR IN TOURISM</a:t>
            </a:r>
          </a:p>
          <a:p>
            <a:pPr algn="l" marL="0" indent="0" lvl="0">
              <a:lnSpc>
                <a:spcPts val="1863"/>
              </a:lnSpc>
            </a:pPr>
            <a:r>
              <a:rPr lang="en-US" b="true" sz="1901" spc="51">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72336"/>
          </a:xfrm>
          <a:prstGeom prst="rect">
            <a:avLst/>
          </a:prstGeom>
        </p:spPr>
        <p:txBody>
          <a:bodyPr anchor="t" rtlCol="false" tIns="0" lIns="0" bIns="0" rIns="0">
            <a:spAutoFit/>
          </a:bodyPr>
          <a:lstStyle/>
          <a:p>
            <a:pPr algn="ctr" marL="0" indent="0" lvl="0">
              <a:lnSpc>
                <a:spcPts val="2314"/>
              </a:lnSpc>
              <a:spcBef>
                <a:spcPct val="0"/>
              </a:spcBef>
            </a:pPr>
            <a:r>
              <a:rPr lang="en-US" sz="1653">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38100"/>
              <a:ext cx="641844" cy="245442"/>
            </a:xfrm>
            <a:prstGeom prst="rect">
              <a:avLst/>
            </a:prstGeom>
          </p:spPr>
          <p:txBody>
            <a:bodyPr anchor="ctr" rtlCol="false" tIns="50800" lIns="50800" bIns="50800" rIns="50800"/>
            <a:lstStyle/>
            <a:p>
              <a:pPr algn="ctr" marL="0" indent="0" lvl="0">
                <a:lnSpc>
                  <a:spcPts val="2661"/>
                </a:lnSpc>
              </a:pPr>
              <a:r>
                <a:rPr lang="en-US" b="true" sz="1901">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272336"/>
          </a:xfrm>
          <a:prstGeom prst="rect">
            <a:avLst/>
          </a:prstGeom>
        </p:spPr>
        <p:txBody>
          <a:bodyPr anchor="t" rtlCol="false" tIns="0" lIns="0" bIns="0" rIns="0">
            <a:spAutoFit/>
          </a:bodyPr>
          <a:lstStyle/>
          <a:p>
            <a:pPr algn="ctr" marL="0" indent="0" lvl="0">
              <a:lnSpc>
                <a:spcPts val="2314"/>
              </a:lnSpc>
              <a:spcBef>
                <a:spcPct val="0"/>
              </a:spcBef>
            </a:pPr>
            <a:r>
              <a:rPr lang="en-US" b="true" sz="1653" spc="19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OTHERS</a:t>
            </a:r>
          </a:p>
        </p:txBody>
      </p:sp>
      <p:sp>
        <p:nvSpPr>
          <p:cNvPr name="TextBox 29" id="29"/>
          <p:cNvSpPr txBox="true"/>
          <p:nvPr/>
        </p:nvSpPr>
        <p:spPr>
          <a:xfrm rot="0">
            <a:off x="1161686" y="2496716"/>
            <a:ext cx="16097614" cy="1938597"/>
          </a:xfrm>
          <a:prstGeom prst="rect">
            <a:avLst/>
          </a:prstGeom>
        </p:spPr>
        <p:txBody>
          <a:bodyPr anchor="t" rtlCol="false" tIns="0" lIns="0" bIns="0" rIns="0">
            <a:spAutoFit/>
          </a:bodyPr>
          <a:lstStyle/>
          <a:p>
            <a:pPr algn="l" marL="0" indent="0" lvl="0">
              <a:lnSpc>
                <a:spcPts val="14042"/>
              </a:lnSpc>
            </a:pPr>
            <a:r>
              <a:rPr lang="en-US" b="true" sz="15957" spc="-1069">
                <a:solidFill>
                  <a:srgbClr val="000000"/>
                </a:solidFill>
                <a:latin typeface="Montserrat Bold"/>
                <a:ea typeface="Montserrat Bold"/>
                <a:cs typeface="Montserrat Bold"/>
                <a:sym typeface="Montserrat Bold"/>
              </a:rPr>
              <a:t>How AR Works</a:t>
            </a:r>
          </a:p>
        </p:txBody>
      </p:sp>
      <p:sp>
        <p:nvSpPr>
          <p:cNvPr name="TextBox 30" id="30"/>
          <p:cNvSpPr txBox="true"/>
          <p:nvPr/>
        </p:nvSpPr>
        <p:spPr>
          <a:xfrm rot="0">
            <a:off x="1247411" y="5626568"/>
            <a:ext cx="6823854" cy="1878442"/>
          </a:xfrm>
          <a:prstGeom prst="rect">
            <a:avLst/>
          </a:prstGeom>
        </p:spPr>
        <p:txBody>
          <a:bodyPr anchor="t" rtlCol="false" tIns="0" lIns="0" bIns="0" rIns="0">
            <a:spAutoFit/>
          </a:bodyPr>
          <a:lstStyle/>
          <a:p>
            <a:pPr algn="just" marL="0" indent="0" lvl="0">
              <a:lnSpc>
                <a:spcPts val="2490"/>
              </a:lnSpc>
            </a:pPr>
            <a:r>
              <a:rPr lang="en-US" sz="1901" spc="-68">
                <a:solidFill>
                  <a:srgbClr val="000000"/>
                </a:solidFill>
                <a:latin typeface="Montserrat"/>
                <a:ea typeface="Montserrat"/>
                <a:cs typeface="Montserrat"/>
                <a:sym typeface="Montserrat"/>
              </a:rPr>
              <a:t>Augmented Reality overlays digital content onto the real world using cameras, sensors, and displays. Devices such as smartphones, tablets, and AR glasses detect the environment and render interactive 3D elements, text, or images in real time, enhancing the user's physical surroundings.</a:t>
            </a:r>
          </a:p>
        </p:txBody>
      </p:sp>
    </p:spTree>
  </p:cSld>
  <p:clrMapOvr>
    <a:masterClrMapping/>
  </p:clrMapOvr>
  <p:transition spd="fast">
    <p:cover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CONSULTING REPORT</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710491" y="842046"/>
            <a:ext cx="7409011" cy="7409011"/>
          </a:xfrm>
          <a:custGeom>
            <a:avLst/>
            <a:gdLst/>
            <a:ahLst/>
            <a:cxnLst/>
            <a:rect r="r" b="b" t="t" l="l"/>
            <a:pathLst>
              <a:path h="7409011" w="7409011">
                <a:moveTo>
                  <a:pt x="0" y="0"/>
                </a:moveTo>
                <a:lnTo>
                  <a:pt x="7409011" y="0"/>
                </a:lnTo>
                <a:lnTo>
                  <a:pt x="7409011" y="7409011"/>
                </a:lnTo>
                <a:lnTo>
                  <a:pt x="0" y="7409011"/>
                </a:lnTo>
                <a:lnTo>
                  <a:pt x="0" y="0"/>
                </a:lnTo>
                <a:close/>
              </a:path>
            </a:pathLst>
          </a:custGeom>
          <a:blipFill>
            <a:blip r:embed="rId4">
              <a:alphaModFix amt="70000"/>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5"/>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1161686" y="2553866"/>
            <a:ext cx="16097614" cy="2209205"/>
          </a:xfrm>
          <a:prstGeom prst="rect">
            <a:avLst/>
          </a:prstGeom>
        </p:spPr>
        <p:txBody>
          <a:bodyPr anchor="t" rtlCol="false" tIns="0" lIns="0" bIns="0" rIns="0">
            <a:spAutoFit/>
          </a:bodyPr>
          <a:lstStyle/>
          <a:p>
            <a:pPr algn="l" marL="0" indent="0" lvl="0">
              <a:lnSpc>
                <a:spcPts val="15910"/>
              </a:lnSpc>
            </a:pPr>
            <a:r>
              <a:rPr lang="en-US" b="true" sz="18079" spc="-1211">
                <a:solidFill>
                  <a:srgbClr val="000000"/>
                </a:solidFill>
                <a:latin typeface="Montserrat Bold"/>
                <a:ea typeface="Montserrat Bold"/>
                <a:cs typeface="Montserrat Bold"/>
                <a:sym typeface="Montserrat Bold"/>
              </a:rPr>
              <a:t>How VR Works</a:t>
            </a:r>
          </a:p>
        </p:txBody>
      </p:sp>
      <p:sp>
        <p:nvSpPr>
          <p:cNvPr name="TextBox 30" id="30"/>
          <p:cNvSpPr txBox="true"/>
          <p:nvPr/>
        </p:nvSpPr>
        <p:spPr>
          <a:xfrm rot="0">
            <a:off x="1247411" y="5617043"/>
            <a:ext cx="6823854" cy="1760778"/>
          </a:xfrm>
          <a:prstGeom prst="rect">
            <a:avLst/>
          </a:prstGeom>
        </p:spPr>
        <p:txBody>
          <a:bodyPr anchor="t" rtlCol="false" tIns="0" lIns="0" bIns="0" rIns="0">
            <a:spAutoFit/>
          </a:bodyPr>
          <a:lstStyle/>
          <a:p>
            <a:pPr algn="just" marL="0" indent="0" lvl="0">
              <a:lnSpc>
                <a:spcPts val="2805"/>
              </a:lnSpc>
            </a:pPr>
            <a:r>
              <a:rPr lang="en-US" sz="2141" spc="-77">
                <a:solidFill>
                  <a:srgbClr val="000000"/>
                </a:solidFill>
                <a:latin typeface="Montserrat"/>
                <a:ea typeface="Montserrat"/>
                <a:cs typeface="Montserrat"/>
                <a:sym typeface="Montserrat"/>
              </a:rPr>
              <a:t>VR creates fully immersive digital environments using headsets that track head movement and render 360° visuals. Sensors, motion controllers, and spatial audio combine to simulate real-world presence, transporting users into entirely virtual spaces.</a:t>
            </a:r>
          </a:p>
        </p:txBody>
      </p:sp>
    </p:spTree>
  </p:cSld>
  <p:clrMapOvr>
    <a:masterClrMapping/>
  </p:clrMapOvr>
  <p:transition spd="fast">
    <p:cover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1457525" y="2267813"/>
            <a:ext cx="5246370" cy="6649160"/>
            <a:chOff x="0" y="0"/>
            <a:chExt cx="812800" cy="1030129"/>
          </a:xfrm>
        </p:grpSpPr>
        <p:sp>
          <p:nvSpPr>
            <p:cNvPr name="Freeform 10" id="10"/>
            <p:cNvSpPr/>
            <p:nvPr/>
          </p:nvSpPr>
          <p:spPr>
            <a:xfrm flipH="false" flipV="false" rot="0">
              <a:off x="0" y="0"/>
              <a:ext cx="812800" cy="1030129"/>
            </a:xfrm>
            <a:custGeom>
              <a:avLst/>
              <a:gdLst/>
              <a:ahLst/>
              <a:cxnLst/>
              <a:rect r="r" b="b" t="t" l="l"/>
              <a:pathLst>
                <a:path h="1030129" w="812800">
                  <a:moveTo>
                    <a:pt x="60503" y="0"/>
                  </a:moveTo>
                  <a:lnTo>
                    <a:pt x="752297" y="0"/>
                  </a:lnTo>
                  <a:cubicBezTo>
                    <a:pt x="785712" y="0"/>
                    <a:pt x="812800" y="27088"/>
                    <a:pt x="812800" y="60503"/>
                  </a:cubicBezTo>
                  <a:lnTo>
                    <a:pt x="812800" y="969626"/>
                  </a:lnTo>
                  <a:cubicBezTo>
                    <a:pt x="812800" y="1003041"/>
                    <a:pt x="785712" y="1030129"/>
                    <a:pt x="752297" y="1030129"/>
                  </a:cubicBezTo>
                  <a:lnTo>
                    <a:pt x="60503" y="1030129"/>
                  </a:lnTo>
                  <a:cubicBezTo>
                    <a:pt x="27088" y="1030129"/>
                    <a:pt x="0" y="1003041"/>
                    <a:pt x="0" y="969626"/>
                  </a:cubicBezTo>
                  <a:lnTo>
                    <a:pt x="0" y="60503"/>
                  </a:lnTo>
                  <a:cubicBezTo>
                    <a:pt x="0" y="27088"/>
                    <a:pt x="27088" y="0"/>
                    <a:pt x="60503" y="0"/>
                  </a:cubicBezTo>
                  <a:close/>
                </a:path>
              </a:pathLst>
            </a:custGeom>
            <a:blipFill>
              <a:blip r:embed="rId4"/>
              <a:stretch>
                <a:fillRect l="0" t="-17" r="0" b="-17"/>
              </a:stretch>
            </a:blipFill>
          </p:spPr>
        </p:sp>
      </p:grpSp>
      <p:grpSp>
        <p:nvGrpSpPr>
          <p:cNvPr name="Group 11" id="11"/>
          <p:cNvGrpSpPr/>
          <p:nvPr/>
        </p:nvGrpSpPr>
        <p:grpSpPr>
          <a:xfrm rot="0">
            <a:off x="1126643" y="3024376"/>
            <a:ext cx="904854" cy="2610879"/>
            <a:chOff x="0" y="0"/>
            <a:chExt cx="238315" cy="687639"/>
          </a:xfrm>
        </p:grpSpPr>
        <p:sp>
          <p:nvSpPr>
            <p:cNvPr name="Freeform 12" id="1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3" id="1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4" id="14"/>
          <p:cNvGrpSpPr/>
          <p:nvPr/>
        </p:nvGrpSpPr>
        <p:grpSpPr>
          <a:xfrm rot="0">
            <a:off x="1126643" y="5511430"/>
            <a:ext cx="904854" cy="2610879"/>
            <a:chOff x="0" y="0"/>
            <a:chExt cx="238315" cy="687639"/>
          </a:xfrm>
        </p:grpSpPr>
        <p:sp>
          <p:nvSpPr>
            <p:cNvPr name="Freeform 15" id="1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6" id="1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0">
            <a:off x="5940229" y="6286362"/>
            <a:ext cx="1527333" cy="152733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Freeform 20" id="20"/>
          <p:cNvSpPr/>
          <p:nvPr/>
        </p:nvSpPr>
        <p:spPr>
          <a:xfrm flipH="false" flipV="false" rot="0">
            <a:off x="12396383" y="1395995"/>
            <a:ext cx="5654034" cy="5654034"/>
          </a:xfrm>
          <a:custGeom>
            <a:avLst/>
            <a:gdLst/>
            <a:ahLst/>
            <a:cxnLst/>
            <a:rect r="r" b="b" t="t" l="l"/>
            <a:pathLst>
              <a:path h="5654034" w="5654034">
                <a:moveTo>
                  <a:pt x="0" y="0"/>
                </a:moveTo>
                <a:lnTo>
                  <a:pt x="5654033" y="0"/>
                </a:lnTo>
                <a:lnTo>
                  <a:pt x="5654033" y="5654034"/>
                </a:lnTo>
                <a:lnTo>
                  <a:pt x="0" y="5654034"/>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8144729" y="8185170"/>
            <a:ext cx="2437000" cy="787252"/>
            <a:chOff x="0" y="0"/>
            <a:chExt cx="641844" cy="207342"/>
          </a:xfrm>
        </p:grpSpPr>
        <p:sp>
          <p:nvSpPr>
            <p:cNvPr name="Freeform 22" id="22"/>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3" id="23"/>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sp>
        <p:nvSpPr>
          <p:cNvPr name="TextBox 24" id="24"/>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5" id="25"/>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6" id="26"/>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b="true" sz="1998">
                <a:solidFill>
                  <a:srgbClr val="000000"/>
                </a:solidFill>
                <a:latin typeface="Montserrat Bold"/>
                <a:ea typeface="Montserrat Bold"/>
                <a:cs typeface="Montserrat Bold"/>
                <a:sym typeface="Montserrat Bold"/>
              </a:rPr>
              <a:t>ABOUT</a:t>
            </a:r>
          </a:p>
        </p:txBody>
      </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8059004" y="2206882"/>
            <a:ext cx="9114571" cy="2884170"/>
          </a:xfrm>
          <a:prstGeom prst="rect">
            <a:avLst/>
          </a:prstGeom>
        </p:spPr>
        <p:txBody>
          <a:bodyPr anchor="t" rtlCol="false" tIns="0" lIns="0" bIns="0" rIns="0">
            <a:spAutoFit/>
          </a:bodyPr>
          <a:lstStyle/>
          <a:p>
            <a:pPr algn="l" marL="0" indent="0" lvl="0">
              <a:lnSpc>
                <a:spcPts val="10890"/>
              </a:lnSpc>
            </a:pPr>
            <a:r>
              <a:rPr lang="en-US" b="true" sz="12375" spc="-829">
                <a:solidFill>
                  <a:srgbClr val="000000"/>
                </a:solidFill>
                <a:latin typeface="Montserrat Bold"/>
                <a:ea typeface="Montserrat Bold"/>
                <a:cs typeface="Montserrat Bold"/>
                <a:sym typeface="Montserrat Bold"/>
              </a:rPr>
              <a:t>Applications in Tourism</a:t>
            </a:r>
          </a:p>
        </p:txBody>
      </p:sp>
      <p:sp>
        <p:nvSpPr>
          <p:cNvPr name="TextBox 30" id="30"/>
          <p:cNvSpPr txBox="true"/>
          <p:nvPr/>
        </p:nvSpPr>
        <p:spPr>
          <a:xfrm rot="0">
            <a:off x="8239979" y="5550301"/>
            <a:ext cx="7654851" cy="2282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AR and VR are transforming the tourism industry by offering immersive travel previews, interactive cultural experiences, and enhanced navigation. From virtual destination tours to AR-powered museum exhibits, these technologies redefine how travelers explore and engage with the world.</a:t>
            </a:r>
          </a:p>
        </p:txBody>
      </p:sp>
    </p:spTree>
  </p:cSld>
  <p:clrMapOvr>
    <a:masterClrMapping/>
  </p:clrMapOvr>
  <p:transition spd="fast">
    <p:cover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84350"/>
            <a:ext cx="1755559" cy="298783"/>
          </a:xfrm>
          <a:prstGeom prst="rect">
            <a:avLst/>
          </a:prstGeom>
        </p:spPr>
        <p:txBody>
          <a:bodyPr anchor="t" rtlCol="false" tIns="0" lIns="0" bIns="0" rIns="0">
            <a:spAutoFit/>
          </a:bodyPr>
          <a:lstStyle/>
          <a:p>
            <a:pPr algn="ctr" marL="0" indent="0" lvl="0">
              <a:lnSpc>
                <a:spcPts val="2431"/>
              </a:lnSpc>
              <a:spcBef>
                <a:spcPct val="0"/>
              </a:spcBef>
            </a:pPr>
            <a:r>
              <a:rPr lang="en-US" sz="1736" spc="201">
                <a:solidFill>
                  <a:srgbClr val="000000"/>
                </a:solidFill>
                <a:latin typeface="Montserrat"/>
                <a:ea typeface="Montserrat"/>
                <a:cs typeface="Montserrat"/>
                <a:sym typeface="Montserrat"/>
              </a:rPr>
              <a:t>HOME</a:t>
            </a:r>
          </a:p>
        </p:txBody>
      </p:sp>
      <p:sp>
        <p:nvSpPr>
          <p:cNvPr name="TextBox 23" id="23"/>
          <p:cNvSpPr txBox="true"/>
          <p:nvPr/>
        </p:nvSpPr>
        <p:spPr>
          <a:xfrm rot="0">
            <a:off x="7844217" y="784350"/>
            <a:ext cx="2013772" cy="298783"/>
          </a:xfrm>
          <a:prstGeom prst="rect">
            <a:avLst/>
          </a:prstGeom>
        </p:spPr>
        <p:txBody>
          <a:bodyPr anchor="t" rtlCol="false" tIns="0" lIns="0" bIns="0" rIns="0">
            <a:spAutoFit/>
          </a:bodyPr>
          <a:lstStyle/>
          <a:p>
            <a:pPr algn="ctr" marL="0" indent="0" lvl="0">
              <a:lnSpc>
                <a:spcPts val="2431"/>
              </a:lnSpc>
              <a:spcBef>
                <a:spcPct val="0"/>
              </a:spcBef>
            </a:pPr>
            <a:r>
              <a:rPr lang="en-US" sz="1736">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84350"/>
            <a:ext cx="2349448" cy="298783"/>
          </a:xfrm>
          <a:prstGeom prst="rect">
            <a:avLst/>
          </a:prstGeom>
        </p:spPr>
        <p:txBody>
          <a:bodyPr anchor="t" rtlCol="false" tIns="0" lIns="0" bIns="0" rIns="0">
            <a:spAutoFit/>
          </a:bodyPr>
          <a:lstStyle/>
          <a:p>
            <a:pPr algn="ctr" marL="0" indent="0" lvl="0">
              <a:lnSpc>
                <a:spcPts val="2431"/>
              </a:lnSpc>
              <a:spcBef>
                <a:spcPct val="0"/>
              </a:spcBef>
            </a:pPr>
            <a:r>
              <a:rPr lang="en-US" sz="1736" spc="201">
                <a:solidFill>
                  <a:srgbClr val="000000"/>
                </a:solidFill>
                <a:latin typeface="Montserrat"/>
                <a:ea typeface="Montserrat"/>
                <a:cs typeface="Montserrat"/>
                <a:sym typeface="Montserrat"/>
              </a:rPr>
              <a:t>OTHERS</a:t>
            </a:r>
          </a:p>
        </p:txBody>
      </p:sp>
      <p:sp>
        <p:nvSpPr>
          <p:cNvPr name="TextBox 26" id="26"/>
          <p:cNvSpPr txBox="true"/>
          <p:nvPr/>
        </p:nvSpPr>
        <p:spPr>
          <a:xfrm rot="0">
            <a:off x="9247663" y="2160158"/>
            <a:ext cx="7954487" cy="1934246"/>
          </a:xfrm>
          <a:prstGeom prst="rect">
            <a:avLst/>
          </a:prstGeom>
        </p:spPr>
        <p:txBody>
          <a:bodyPr anchor="t" rtlCol="false" tIns="0" lIns="0" bIns="0" rIns="0">
            <a:spAutoFit/>
          </a:bodyPr>
          <a:lstStyle/>
          <a:p>
            <a:pPr algn="just" marL="0" indent="0" lvl="0">
              <a:lnSpc>
                <a:spcPts val="2616"/>
              </a:lnSpc>
            </a:pPr>
            <a:r>
              <a:rPr lang="en-US" sz="1997" spc="-71">
                <a:solidFill>
                  <a:srgbClr val="000000"/>
                </a:solidFill>
                <a:latin typeface="Montserrat"/>
                <a:ea typeface="Montserrat"/>
                <a:cs typeface="Montserrat"/>
                <a:sym typeface="Montserrat"/>
              </a:rPr>
              <a:t>Virtual tours leverage immersive 360° technology to transport users to destinations worldwide without physical travel. From ancient ruins to modern cityscapes, travelers can explore landmarks, hotels, and natural wonders in real time. These experiences enhance pre-trip planning, accessibility, and global reach for tourism providers.</a:t>
            </a:r>
          </a:p>
        </p:txBody>
      </p:sp>
      <p:sp>
        <p:nvSpPr>
          <p:cNvPr name="TextBox 27" id="27"/>
          <p:cNvSpPr txBox="true"/>
          <p:nvPr/>
        </p:nvSpPr>
        <p:spPr>
          <a:xfrm rot="0">
            <a:off x="1126643" y="2255408"/>
            <a:ext cx="7822403" cy="1732173"/>
          </a:xfrm>
          <a:prstGeom prst="rect">
            <a:avLst/>
          </a:prstGeom>
        </p:spPr>
        <p:txBody>
          <a:bodyPr anchor="t" rtlCol="false" tIns="0" lIns="0" bIns="0" rIns="0">
            <a:spAutoFit/>
          </a:bodyPr>
          <a:lstStyle/>
          <a:p>
            <a:pPr algn="just" marL="0" indent="0" lvl="0">
              <a:lnSpc>
                <a:spcPts val="6732"/>
              </a:lnSpc>
            </a:pPr>
            <a:r>
              <a:rPr lang="en-US" b="true" sz="6351" spc="-425">
                <a:solidFill>
                  <a:srgbClr val="000000"/>
                </a:solidFill>
                <a:latin typeface="Montserrat Bold"/>
                <a:ea typeface="Montserrat Bold"/>
                <a:cs typeface="Montserrat Bold"/>
                <a:sym typeface="Montserrat Bold"/>
              </a:rPr>
              <a:t>Virtual</a:t>
            </a:r>
          </a:p>
          <a:p>
            <a:pPr algn="just" marL="0" indent="0" lvl="0">
              <a:lnSpc>
                <a:spcPts val="6732"/>
              </a:lnSpc>
            </a:pPr>
            <a:r>
              <a:rPr lang="en-US" b="true" sz="6351" spc="-425">
                <a:solidFill>
                  <a:srgbClr val="000000"/>
                </a:solidFill>
                <a:latin typeface="Montserrat Bold"/>
                <a:ea typeface="Montserrat Bold"/>
                <a:cs typeface="Montserrat Bold"/>
                <a:sym typeface="Montserrat Bold"/>
              </a:rPr>
              <a:t>Tours</a:t>
            </a:r>
          </a:p>
        </p:txBody>
      </p:sp>
    </p:spTree>
  </p:cSld>
  <p:clrMapOvr>
    <a:masterClrMapping/>
  </p:clrMapOvr>
  <p:transition spd="fast">
    <p:cover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84350"/>
            <a:ext cx="1755559" cy="314642"/>
          </a:xfrm>
          <a:prstGeom prst="rect">
            <a:avLst/>
          </a:prstGeom>
        </p:spPr>
        <p:txBody>
          <a:bodyPr anchor="t" rtlCol="false" tIns="0" lIns="0" bIns="0" rIns="0">
            <a:spAutoFit/>
          </a:bodyPr>
          <a:lstStyle/>
          <a:p>
            <a:pPr algn="ctr" marL="0" indent="0" lvl="0">
              <a:lnSpc>
                <a:spcPts val="2607"/>
              </a:lnSpc>
              <a:spcBef>
                <a:spcPct val="0"/>
              </a:spcBef>
            </a:pPr>
            <a:r>
              <a:rPr lang="en-US" sz="1862" spc="216">
                <a:solidFill>
                  <a:srgbClr val="000000"/>
                </a:solidFill>
                <a:latin typeface="Montserrat"/>
                <a:ea typeface="Montserrat"/>
                <a:cs typeface="Montserrat"/>
                <a:sym typeface="Montserrat"/>
              </a:rPr>
              <a:t>HOME</a:t>
            </a:r>
          </a:p>
        </p:txBody>
      </p:sp>
      <p:sp>
        <p:nvSpPr>
          <p:cNvPr name="TextBox 23" id="23"/>
          <p:cNvSpPr txBox="true"/>
          <p:nvPr/>
        </p:nvSpPr>
        <p:spPr>
          <a:xfrm rot="0">
            <a:off x="7844217" y="784350"/>
            <a:ext cx="2013772" cy="314642"/>
          </a:xfrm>
          <a:prstGeom prst="rect">
            <a:avLst/>
          </a:prstGeom>
        </p:spPr>
        <p:txBody>
          <a:bodyPr anchor="t" rtlCol="false" tIns="0" lIns="0" bIns="0" rIns="0">
            <a:spAutoFit/>
          </a:bodyPr>
          <a:lstStyle/>
          <a:p>
            <a:pPr algn="ctr" marL="0" indent="0" lvl="0">
              <a:lnSpc>
                <a:spcPts val="2607"/>
              </a:lnSpc>
              <a:spcBef>
                <a:spcPct val="0"/>
              </a:spcBef>
            </a:pPr>
            <a:r>
              <a:rPr lang="en-US" sz="1862">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84350"/>
            <a:ext cx="2349448" cy="314642"/>
          </a:xfrm>
          <a:prstGeom prst="rect">
            <a:avLst/>
          </a:prstGeom>
        </p:spPr>
        <p:txBody>
          <a:bodyPr anchor="t" rtlCol="false" tIns="0" lIns="0" bIns="0" rIns="0">
            <a:spAutoFit/>
          </a:bodyPr>
          <a:lstStyle/>
          <a:p>
            <a:pPr algn="ctr" marL="0" indent="0" lvl="0">
              <a:lnSpc>
                <a:spcPts val="2607"/>
              </a:lnSpc>
              <a:spcBef>
                <a:spcPct val="0"/>
              </a:spcBef>
            </a:pPr>
            <a:r>
              <a:rPr lang="en-US" sz="1862" spc="216">
                <a:solidFill>
                  <a:srgbClr val="000000"/>
                </a:solidFill>
                <a:latin typeface="Montserrat"/>
                <a:ea typeface="Montserrat"/>
                <a:cs typeface="Montserrat"/>
                <a:sym typeface="Montserrat"/>
              </a:rPr>
              <a:t>OTHERS</a:t>
            </a:r>
          </a:p>
        </p:txBody>
      </p:sp>
      <p:sp>
        <p:nvSpPr>
          <p:cNvPr name="TextBox 26" id="26"/>
          <p:cNvSpPr txBox="true"/>
          <p:nvPr/>
        </p:nvSpPr>
        <p:spPr>
          <a:xfrm rot="0">
            <a:off x="9247663" y="2150633"/>
            <a:ext cx="7954487" cy="1760778"/>
          </a:xfrm>
          <a:prstGeom prst="rect">
            <a:avLst/>
          </a:prstGeom>
        </p:spPr>
        <p:txBody>
          <a:bodyPr anchor="t" rtlCol="false" tIns="0" lIns="0" bIns="0" rIns="0">
            <a:spAutoFit/>
          </a:bodyPr>
          <a:lstStyle/>
          <a:p>
            <a:pPr algn="just" marL="0" indent="0" lvl="0">
              <a:lnSpc>
                <a:spcPts val="2805"/>
              </a:lnSpc>
            </a:pPr>
            <a:r>
              <a:rPr lang="en-US" sz="2141" spc="-77">
                <a:solidFill>
                  <a:srgbClr val="000000"/>
                </a:solidFill>
                <a:latin typeface="Montserrat"/>
                <a:ea typeface="Montserrat"/>
                <a:cs typeface="Montserrat"/>
                <a:sym typeface="Montserrat"/>
              </a:rPr>
              <a:t>Smart museums leverage AR technology to transform static exhibits into dynamic, interactive experiences. Visitors can scan artifacts to reveal 3D reconstructions, historical timelines, and multilingual audio guides. These innovations deepen cultural engagement and make heritage accessible to all audiences.</a:t>
            </a:r>
          </a:p>
        </p:txBody>
      </p:sp>
      <p:sp>
        <p:nvSpPr>
          <p:cNvPr name="TextBox 27" id="27"/>
          <p:cNvSpPr txBox="true"/>
          <p:nvPr/>
        </p:nvSpPr>
        <p:spPr>
          <a:xfrm rot="0">
            <a:off x="1126643" y="2255408"/>
            <a:ext cx="7822403" cy="1732173"/>
          </a:xfrm>
          <a:prstGeom prst="rect">
            <a:avLst/>
          </a:prstGeom>
        </p:spPr>
        <p:txBody>
          <a:bodyPr anchor="t" rtlCol="false" tIns="0" lIns="0" bIns="0" rIns="0">
            <a:spAutoFit/>
          </a:bodyPr>
          <a:lstStyle/>
          <a:p>
            <a:pPr algn="just" marL="0" indent="0" lvl="0">
              <a:lnSpc>
                <a:spcPts val="6732"/>
              </a:lnSpc>
            </a:pPr>
            <a:r>
              <a:rPr lang="en-US" b="true" sz="6351" spc="-425">
                <a:solidFill>
                  <a:srgbClr val="000000"/>
                </a:solidFill>
                <a:latin typeface="Montserrat Bold"/>
                <a:ea typeface="Montserrat Bold"/>
                <a:cs typeface="Montserrat Bold"/>
                <a:sym typeface="Montserrat Bold"/>
              </a:rPr>
              <a:t>Smart</a:t>
            </a:r>
          </a:p>
          <a:p>
            <a:pPr algn="just" marL="0" indent="0" lvl="0">
              <a:lnSpc>
                <a:spcPts val="6732"/>
              </a:lnSpc>
            </a:pPr>
            <a:r>
              <a:rPr lang="en-US" b="true" sz="6351" spc="-425">
                <a:solidFill>
                  <a:srgbClr val="000000"/>
                </a:solidFill>
                <a:latin typeface="Montserrat Bold"/>
                <a:ea typeface="Montserrat Bold"/>
                <a:cs typeface="Montserrat Bold"/>
                <a:sym typeface="Montserrat Bold"/>
              </a:rPr>
              <a:t>Museums</a:t>
            </a:r>
          </a:p>
        </p:txBody>
      </p:sp>
    </p:spTree>
  </p:cSld>
  <p:clrMapOvr>
    <a:masterClrMapping/>
  </p:clrMapOvr>
  <p:transition spd="fast">
    <p:cover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1161686" y="2582441"/>
            <a:ext cx="16097614" cy="2317043"/>
          </a:xfrm>
          <a:prstGeom prst="rect">
            <a:avLst/>
          </a:prstGeom>
        </p:spPr>
        <p:txBody>
          <a:bodyPr anchor="t" rtlCol="false" tIns="0" lIns="0" bIns="0" rIns="0">
            <a:spAutoFit/>
          </a:bodyPr>
          <a:lstStyle/>
          <a:p>
            <a:pPr algn="l" marL="0" indent="0" lvl="0">
              <a:lnSpc>
                <a:spcPts val="16710"/>
              </a:lnSpc>
            </a:pPr>
            <a:r>
              <a:rPr lang="en-US" b="true" sz="18989" spc="-1272">
                <a:solidFill>
                  <a:srgbClr val="000000"/>
                </a:solidFill>
                <a:latin typeface="Montserrat Bold"/>
                <a:ea typeface="Montserrat Bold"/>
                <a:cs typeface="Montserrat Bold"/>
                <a:sym typeface="Montserrat Bold"/>
              </a:rPr>
              <a:t>AR Navigation</a:t>
            </a:r>
          </a:p>
        </p:txBody>
      </p:sp>
      <p:sp>
        <p:nvSpPr>
          <p:cNvPr name="TextBox 30" id="30"/>
          <p:cNvSpPr txBox="true"/>
          <p:nvPr/>
        </p:nvSpPr>
        <p:spPr>
          <a:xfrm rot="0">
            <a:off x="1247411" y="5626568"/>
            <a:ext cx="6823854" cy="1657685"/>
          </a:xfrm>
          <a:prstGeom prst="rect">
            <a:avLst/>
          </a:prstGeom>
        </p:spPr>
        <p:txBody>
          <a:bodyPr anchor="t" rtlCol="false" tIns="0" lIns="0" bIns="0" rIns="0">
            <a:spAutoFit/>
          </a:bodyPr>
          <a:lstStyle/>
          <a:p>
            <a:pPr algn="just" marL="0" indent="0" lvl="0">
              <a:lnSpc>
                <a:spcPts val="2648"/>
              </a:lnSpc>
            </a:pPr>
            <a:r>
              <a:rPr lang="en-US" sz="2021" spc="-72">
                <a:solidFill>
                  <a:srgbClr val="000000"/>
                </a:solidFill>
                <a:latin typeface="Montserrat"/>
                <a:ea typeface="Montserrat"/>
                <a:cs typeface="Montserrat"/>
                <a:sym typeface="Montserrat"/>
              </a:rPr>
              <a:t>AR navigation overlays real-time directions, points of interest, and location-based information directly onto a traveler's view. Using smartphone cameras or AR glasses, tourists can instantly identify landmarks, find routes, and access contextual data about their surroundings.</a:t>
            </a:r>
          </a:p>
        </p:txBody>
      </p:sp>
    </p:spTree>
  </p:cSld>
  <p:clrMapOvr>
    <a:masterClrMapping/>
  </p:clrMapOvr>
  <p:transition spd="fast">
    <p:cover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05801"/>
            <a:ext cx="3710438" cy="472217"/>
          </a:xfrm>
          <a:prstGeom prst="rect">
            <a:avLst/>
          </a:prstGeom>
        </p:spPr>
        <p:txBody>
          <a:bodyPr anchor="t" rtlCol="false" tIns="0" lIns="0" bIns="0" rIns="0">
            <a:spAutoFit/>
          </a:bodyPr>
          <a:lstStyle/>
          <a:p>
            <a:pPr algn="l" marL="0" indent="0" lvl="0">
              <a:lnSpc>
                <a:spcPts val="1863"/>
              </a:lnSpc>
            </a:pPr>
            <a:r>
              <a:rPr lang="en-US" b="true" sz="1901" spc="51">
                <a:solidFill>
                  <a:srgbClr val="000000"/>
                </a:solidFill>
                <a:latin typeface="Montserrat Bold"/>
                <a:ea typeface="Montserrat Bold"/>
                <a:cs typeface="Montserrat Bold"/>
                <a:sym typeface="Montserrat Bold"/>
              </a:rPr>
              <a:t>CONSULTING REPORT</a:t>
            </a:r>
          </a:p>
          <a:p>
            <a:pPr algn="l" marL="0" indent="0" lvl="0">
              <a:lnSpc>
                <a:spcPts val="1863"/>
              </a:lnSpc>
            </a:pPr>
            <a:r>
              <a:rPr lang="en-US" b="true" sz="1901" spc="51">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93875"/>
            <a:ext cx="1755559"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HOME</a:t>
            </a:r>
          </a:p>
        </p:txBody>
      </p:sp>
      <p:sp>
        <p:nvSpPr>
          <p:cNvPr name="TextBox 23" id="23"/>
          <p:cNvSpPr txBox="true"/>
          <p:nvPr/>
        </p:nvSpPr>
        <p:spPr>
          <a:xfrm rot="0">
            <a:off x="7844217" y="793875"/>
            <a:ext cx="2013772" cy="272336"/>
          </a:xfrm>
          <a:prstGeom prst="rect">
            <a:avLst/>
          </a:prstGeom>
        </p:spPr>
        <p:txBody>
          <a:bodyPr anchor="t" rtlCol="false" tIns="0" lIns="0" bIns="0" rIns="0">
            <a:spAutoFit/>
          </a:bodyPr>
          <a:lstStyle/>
          <a:p>
            <a:pPr algn="ctr" marL="0" indent="0" lvl="0">
              <a:lnSpc>
                <a:spcPts val="2314"/>
              </a:lnSpc>
              <a:spcBef>
                <a:spcPct val="0"/>
              </a:spcBef>
            </a:pPr>
            <a:r>
              <a:rPr lang="en-US" sz="1653">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272336"/>
          </a:xfrm>
          <a:prstGeom prst="rect">
            <a:avLst/>
          </a:prstGeom>
        </p:spPr>
        <p:txBody>
          <a:bodyPr anchor="t" rtlCol="false" tIns="0" lIns="0" bIns="0" rIns="0">
            <a:spAutoFit/>
          </a:bodyPr>
          <a:lstStyle/>
          <a:p>
            <a:pPr algn="ctr" marL="0" indent="0" lvl="0">
              <a:lnSpc>
                <a:spcPts val="2314"/>
              </a:lnSpc>
              <a:spcBef>
                <a:spcPct val="0"/>
              </a:spcBef>
            </a:pPr>
            <a:r>
              <a:rPr lang="en-US" b="true" sz="1653" spc="19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93875"/>
            <a:ext cx="2349448"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OTHERS</a:t>
            </a:r>
          </a:p>
        </p:txBody>
      </p:sp>
      <p:sp>
        <p:nvSpPr>
          <p:cNvPr name="TextBox 26" id="26"/>
          <p:cNvSpPr txBox="true"/>
          <p:nvPr/>
        </p:nvSpPr>
        <p:spPr>
          <a:xfrm rot="0">
            <a:off x="9247663" y="2160158"/>
            <a:ext cx="7954487" cy="1878442"/>
          </a:xfrm>
          <a:prstGeom prst="rect">
            <a:avLst/>
          </a:prstGeom>
        </p:spPr>
        <p:txBody>
          <a:bodyPr anchor="t" rtlCol="false" tIns="0" lIns="0" bIns="0" rIns="0">
            <a:spAutoFit/>
          </a:bodyPr>
          <a:lstStyle/>
          <a:p>
            <a:pPr algn="just" marL="0" indent="0" lvl="0">
              <a:lnSpc>
                <a:spcPts val="2490"/>
              </a:lnSpc>
            </a:pPr>
            <a:r>
              <a:rPr lang="en-US" sz="1901" spc="-68">
                <a:solidFill>
                  <a:srgbClr val="000000"/>
                </a:solidFill>
                <a:latin typeface="Montserrat"/>
                <a:ea typeface="Montserrat"/>
                <a:cs typeface="Montserrat"/>
                <a:sym typeface="Montserrat"/>
              </a:rPr>
              <a:t>AR and VR are transforming the hospitality industry by enabling virtual room previews before booking, AR-powered concierge services for personalized guest guidance, and immersive in-room experiences. Hotels leverage these technologies to enhance guest satisfaction, streamline check-in processes, and deliver memorable, tech-enhanced stays.</a:t>
            </a:r>
          </a:p>
        </p:txBody>
      </p:sp>
      <p:sp>
        <p:nvSpPr>
          <p:cNvPr name="TextBox 27" id="27"/>
          <p:cNvSpPr txBox="true"/>
          <p:nvPr/>
        </p:nvSpPr>
        <p:spPr>
          <a:xfrm rot="0">
            <a:off x="1126643" y="2255408"/>
            <a:ext cx="7822403" cy="722053"/>
          </a:xfrm>
          <a:prstGeom prst="rect">
            <a:avLst/>
          </a:prstGeom>
        </p:spPr>
        <p:txBody>
          <a:bodyPr anchor="t" rtlCol="false" tIns="0" lIns="0" bIns="0" rIns="0">
            <a:spAutoFit/>
          </a:bodyPr>
          <a:lstStyle/>
          <a:p>
            <a:pPr algn="just" marL="0" indent="0" lvl="0">
              <a:lnSpc>
                <a:spcPts val="5568"/>
              </a:lnSpc>
            </a:pPr>
            <a:r>
              <a:rPr lang="en-US" b="true" sz="5253" spc="-351">
                <a:solidFill>
                  <a:srgbClr val="000000"/>
                </a:solidFill>
                <a:latin typeface="Montserrat Bold"/>
                <a:ea typeface="Montserrat Bold"/>
                <a:cs typeface="Montserrat Bold"/>
                <a:sym typeface="Montserrat Bold"/>
              </a:rPr>
              <a:t>Hospitality &amp; Hotels</a:t>
            </a:r>
          </a:p>
        </p:txBody>
      </p:sp>
    </p:spTree>
  </p:cSld>
  <p:clrMapOvr>
    <a:masterClrMapping/>
  </p:clrMapOvr>
  <p:transition spd="fast">
    <p:cover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12" id="12"/>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13" id="13"/>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Freeform 14" id="14"/>
          <p:cNvSpPr/>
          <p:nvPr/>
        </p:nvSpPr>
        <p:spPr>
          <a:xfrm flipH="false" flipV="false" rot="0">
            <a:off x="10147656" y="1884953"/>
            <a:ext cx="6517095" cy="6517095"/>
          </a:xfrm>
          <a:custGeom>
            <a:avLst/>
            <a:gdLst/>
            <a:ahLst/>
            <a:cxnLst/>
            <a:rect r="r" b="b" t="t" l="l"/>
            <a:pathLst>
              <a:path h="6517095" w="6517095">
                <a:moveTo>
                  <a:pt x="0" y="0"/>
                </a:moveTo>
                <a:lnTo>
                  <a:pt x="6517094" y="0"/>
                </a:lnTo>
                <a:lnTo>
                  <a:pt x="6517094" y="6517094"/>
                </a:lnTo>
                <a:lnTo>
                  <a:pt x="0" y="651709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1270377" y="3341307"/>
            <a:ext cx="10121480" cy="10121480"/>
          </a:xfrm>
          <a:custGeom>
            <a:avLst/>
            <a:gdLst/>
            <a:ahLst/>
            <a:cxnLst/>
            <a:rect r="r" b="b" t="t" l="l"/>
            <a:pathLst>
              <a:path h="10121480" w="10121480">
                <a:moveTo>
                  <a:pt x="0" y="0"/>
                </a:moveTo>
                <a:lnTo>
                  <a:pt x="10121480" y="0"/>
                </a:lnTo>
                <a:lnTo>
                  <a:pt x="10121480" y="10121481"/>
                </a:lnTo>
                <a:lnTo>
                  <a:pt x="0" y="10121481"/>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1126643" y="2352667"/>
            <a:ext cx="11639593" cy="3441557"/>
          </a:xfrm>
          <a:prstGeom prst="rect">
            <a:avLst/>
          </a:prstGeom>
        </p:spPr>
        <p:txBody>
          <a:bodyPr anchor="t" rtlCol="false" tIns="0" lIns="0" bIns="0" rIns="0">
            <a:spAutoFit/>
          </a:bodyPr>
          <a:lstStyle/>
          <a:p>
            <a:pPr algn="l" marL="0" indent="0" lvl="0">
              <a:lnSpc>
                <a:spcPts val="13322"/>
              </a:lnSpc>
            </a:pPr>
            <a:r>
              <a:rPr lang="en-US" b="true" sz="12934" spc="-866">
                <a:solidFill>
                  <a:srgbClr val="000000"/>
                </a:solidFill>
                <a:latin typeface="Montserrat Bold"/>
                <a:ea typeface="Montserrat Bold"/>
                <a:cs typeface="Montserrat Bold"/>
                <a:sym typeface="Montserrat Bold"/>
              </a:rPr>
              <a:t>Benefits &amp;</a:t>
            </a:r>
          </a:p>
          <a:p>
            <a:pPr algn="l" marL="0" indent="0" lvl="0">
              <a:lnSpc>
                <a:spcPts val="13322"/>
              </a:lnSpc>
            </a:pPr>
            <a:r>
              <a:rPr lang="en-US" b="true" sz="12934" spc="-866">
                <a:solidFill>
                  <a:srgbClr val="000000"/>
                </a:solidFill>
                <a:latin typeface="Montserrat Bold"/>
                <a:ea typeface="Montserrat Bold"/>
                <a:cs typeface="Montserrat Bold"/>
                <a:sym typeface="Montserrat Bold"/>
              </a:rPr>
              <a:t>Advantages</a:t>
            </a:r>
          </a:p>
        </p:txBody>
      </p:sp>
      <p:sp>
        <p:nvSpPr>
          <p:cNvPr name="TextBox 17" id="17"/>
          <p:cNvSpPr txBox="true"/>
          <p:nvPr/>
        </p:nvSpPr>
        <p:spPr>
          <a:xfrm rot="0">
            <a:off x="9304813" y="6784886"/>
            <a:ext cx="7654851" cy="2282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AR &amp; VR technologies deliver powerful benefits in tourism: enhanced visitor engagement through immersive experiences, greater accessibility for travelers with mobility limitations, informed pre-trip planning via virtual previews, and the creation of deeply memorable, personalized journeys that inspire lasting connections.</a:t>
            </a:r>
          </a:p>
        </p:txBody>
      </p:sp>
      <p:grpSp>
        <p:nvGrpSpPr>
          <p:cNvPr name="Group 18" id="18"/>
          <p:cNvGrpSpPr/>
          <p:nvPr/>
        </p:nvGrpSpPr>
        <p:grpSpPr>
          <a:xfrm rot="0">
            <a:off x="16281457" y="2312298"/>
            <a:ext cx="678206" cy="1956906"/>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0">
            <a:off x="16281457" y="4269204"/>
            <a:ext cx="678206" cy="1864097"/>
            <a:chOff x="0" y="0"/>
            <a:chExt cx="238315" cy="655027"/>
          </a:xfrm>
        </p:grpSpPr>
        <p:sp>
          <p:nvSpPr>
            <p:cNvPr name="Freeform 22" id="22"/>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126643" y="8162906"/>
            <a:ext cx="904424" cy="904424"/>
            <a:chOff x="0" y="0"/>
            <a:chExt cx="673100" cy="673100"/>
          </a:xfrm>
        </p:grpSpPr>
        <p:sp>
          <p:nvSpPr>
            <p:cNvPr name="Freeform 25" id="25"/>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00000"/>
            </a:solidFill>
          </p:spPr>
        </p:sp>
        <p:sp>
          <p:nvSpPr>
            <p:cNvPr name="TextBox 26" id="26"/>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transition spd="fast">
    <p:cover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12" id="12"/>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CONTENT</a:t>
            </a:r>
          </a:p>
        </p:txBody>
      </p:sp>
      <p:sp>
        <p:nvSpPr>
          <p:cNvPr name="TextBox 13" id="13"/>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Freeform 14" id="14"/>
          <p:cNvSpPr/>
          <p:nvPr/>
        </p:nvSpPr>
        <p:spPr>
          <a:xfrm flipH="false" flipV="false" rot="0">
            <a:off x="10630800" y="-32732885"/>
            <a:ext cx="56541391" cy="50296860"/>
          </a:xfrm>
          <a:custGeom>
            <a:avLst/>
            <a:gdLst/>
            <a:ahLst/>
            <a:cxnLst/>
            <a:rect r="r" b="b" t="t" l="l"/>
            <a:pathLst>
              <a:path h="50296860" w="56541391">
                <a:moveTo>
                  <a:pt x="0" y="0"/>
                </a:moveTo>
                <a:lnTo>
                  <a:pt x="56541390" y="0"/>
                </a:lnTo>
                <a:lnTo>
                  <a:pt x="56541390" y="50296860"/>
                </a:lnTo>
                <a:lnTo>
                  <a:pt x="0" y="50296860"/>
                </a:lnTo>
                <a:lnTo>
                  <a:pt x="0" y="0"/>
                </a:lnTo>
                <a:close/>
              </a:path>
            </a:pathLst>
          </a:custGeom>
          <a:blipFill>
            <a:blip r:embed="rId4">
              <a:alphaModFix amt="70000"/>
            </a:blip>
            <a:stretch>
              <a:fillRect l="0" t="0" r="0" b="0"/>
            </a:stretch>
          </a:blipFill>
        </p:spPr>
      </p:sp>
      <p:sp>
        <p:nvSpPr>
          <p:cNvPr name="Freeform 15" id="15"/>
          <p:cNvSpPr/>
          <p:nvPr/>
        </p:nvSpPr>
        <p:spPr>
          <a:xfrm flipH="false" flipV="false" rot="0">
            <a:off x="-1270377" y="3341307"/>
            <a:ext cx="10121480" cy="10121480"/>
          </a:xfrm>
          <a:custGeom>
            <a:avLst/>
            <a:gdLst/>
            <a:ahLst/>
            <a:cxnLst/>
            <a:rect r="r" b="b" t="t" l="l"/>
            <a:pathLst>
              <a:path h="10121480" w="10121480">
                <a:moveTo>
                  <a:pt x="0" y="0"/>
                </a:moveTo>
                <a:lnTo>
                  <a:pt x="10121480" y="0"/>
                </a:lnTo>
                <a:lnTo>
                  <a:pt x="10121480" y="10121481"/>
                </a:lnTo>
                <a:lnTo>
                  <a:pt x="0" y="10121481"/>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126643" y="2352667"/>
            <a:ext cx="11639593" cy="3441557"/>
          </a:xfrm>
          <a:prstGeom prst="rect">
            <a:avLst/>
          </a:prstGeom>
        </p:spPr>
        <p:txBody>
          <a:bodyPr anchor="t" rtlCol="false" tIns="0" lIns="0" bIns="0" rIns="0">
            <a:spAutoFit/>
          </a:bodyPr>
          <a:lstStyle/>
          <a:p>
            <a:pPr algn="l" marL="0" indent="0" lvl="0">
              <a:lnSpc>
                <a:spcPts val="13322"/>
              </a:lnSpc>
            </a:pPr>
            <a:r>
              <a:rPr lang="en-US" b="true" sz="12934" spc="-866">
                <a:solidFill>
                  <a:srgbClr val="000000"/>
                </a:solidFill>
                <a:latin typeface="Montserrat Bold"/>
                <a:ea typeface="Montserrat Bold"/>
                <a:cs typeface="Montserrat Bold"/>
                <a:sym typeface="Montserrat Bold"/>
              </a:rPr>
              <a:t>Challenges &amp;</a:t>
            </a:r>
          </a:p>
          <a:p>
            <a:pPr algn="l" marL="0" indent="0" lvl="0">
              <a:lnSpc>
                <a:spcPts val="13322"/>
              </a:lnSpc>
            </a:pPr>
            <a:r>
              <a:rPr lang="en-US" b="true" sz="12934" spc="-866">
                <a:solidFill>
                  <a:srgbClr val="000000"/>
                </a:solidFill>
                <a:latin typeface="Montserrat Bold"/>
                <a:ea typeface="Montserrat Bold"/>
                <a:cs typeface="Montserrat Bold"/>
                <a:sym typeface="Montserrat Bold"/>
              </a:rPr>
              <a:t>Barriers</a:t>
            </a:r>
          </a:p>
        </p:txBody>
      </p:sp>
      <p:sp>
        <p:nvSpPr>
          <p:cNvPr name="TextBox 17" id="17"/>
          <p:cNvSpPr txBox="true"/>
          <p:nvPr/>
        </p:nvSpPr>
        <p:spPr>
          <a:xfrm rot="0">
            <a:off x="9304813" y="6784886"/>
            <a:ext cx="7654851" cy="2282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Key challenges include high implementation costs, slow technology adoption, and limited connectivity in remote destinations. User experience barriers such as motion sickness, device accessibility, and lack of digital literacy further hinder widespread AR &amp; VR integration in tourism.</a:t>
            </a:r>
          </a:p>
        </p:txBody>
      </p:sp>
      <p:grpSp>
        <p:nvGrpSpPr>
          <p:cNvPr name="Group 18" id="18"/>
          <p:cNvGrpSpPr/>
          <p:nvPr/>
        </p:nvGrpSpPr>
        <p:grpSpPr>
          <a:xfrm rot="0">
            <a:off x="16281457" y="2312298"/>
            <a:ext cx="678206" cy="1956906"/>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0">
            <a:off x="16281457" y="4269204"/>
            <a:ext cx="678206" cy="1864097"/>
            <a:chOff x="0" y="0"/>
            <a:chExt cx="238315" cy="655027"/>
          </a:xfrm>
        </p:grpSpPr>
        <p:sp>
          <p:nvSpPr>
            <p:cNvPr name="Freeform 22" id="22"/>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126643" y="8162906"/>
            <a:ext cx="904424" cy="904424"/>
            <a:chOff x="0" y="0"/>
            <a:chExt cx="673100" cy="673100"/>
          </a:xfrm>
        </p:grpSpPr>
        <p:sp>
          <p:nvSpPr>
            <p:cNvPr name="Freeform 25" id="25"/>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00000"/>
            </a:solidFill>
          </p:spPr>
        </p:sp>
        <p:sp>
          <p:nvSpPr>
            <p:cNvPr name="TextBox 26" id="26"/>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transition spd="fast">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05801"/>
            <a:ext cx="3710438" cy="472217"/>
          </a:xfrm>
          <a:prstGeom prst="rect">
            <a:avLst/>
          </a:prstGeom>
        </p:spPr>
        <p:txBody>
          <a:bodyPr anchor="t" rtlCol="false" tIns="0" lIns="0" bIns="0" rIns="0">
            <a:spAutoFit/>
          </a:bodyPr>
          <a:lstStyle/>
          <a:p>
            <a:pPr algn="l" marL="0" indent="0" lvl="0">
              <a:lnSpc>
                <a:spcPts val="1863"/>
              </a:lnSpc>
            </a:pPr>
            <a:r>
              <a:rPr lang="en-US" b="true" sz="1901" spc="51">
                <a:solidFill>
                  <a:srgbClr val="000000"/>
                </a:solidFill>
                <a:latin typeface="Montserrat Bold"/>
                <a:ea typeface="Montserrat Bold"/>
                <a:cs typeface="Montserrat Bold"/>
                <a:sym typeface="Montserrat Bold"/>
              </a:rPr>
              <a:t>CONSULTING REPORT</a:t>
            </a:r>
          </a:p>
          <a:p>
            <a:pPr algn="l" marL="0" indent="0" lvl="0">
              <a:lnSpc>
                <a:spcPts val="1863"/>
              </a:lnSpc>
            </a:pPr>
            <a:r>
              <a:rPr lang="en-US" b="true" sz="1901" spc="51">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272336"/>
          </a:xfrm>
          <a:prstGeom prst="rect">
            <a:avLst/>
          </a:prstGeom>
        </p:spPr>
        <p:txBody>
          <a:bodyPr anchor="t" rtlCol="false" tIns="0" lIns="0" bIns="0" rIns="0">
            <a:spAutoFit/>
          </a:bodyPr>
          <a:lstStyle/>
          <a:p>
            <a:pPr algn="ctr" marL="0" indent="0" lvl="0">
              <a:lnSpc>
                <a:spcPts val="2314"/>
              </a:lnSpc>
              <a:spcBef>
                <a:spcPct val="0"/>
              </a:spcBef>
            </a:pPr>
            <a:r>
              <a:rPr lang="en-US" sz="1653">
                <a:solidFill>
                  <a:srgbClr val="000000"/>
                </a:solidFill>
                <a:latin typeface="Montserrat"/>
                <a:ea typeface="Montserrat"/>
                <a:cs typeface="Montserrat"/>
                <a:sym typeface="Montserrat"/>
              </a:rPr>
              <a:t>ABOUT</a:t>
            </a:r>
          </a:p>
        </p:txBody>
      </p:sp>
      <p:sp>
        <p:nvSpPr>
          <p:cNvPr name="Freeform 12" id="12"/>
          <p:cNvSpPr/>
          <p:nvPr/>
        </p:nvSpPr>
        <p:spPr>
          <a:xfrm flipH="false" flipV="false" rot="0">
            <a:off x="1940383" y="1074818"/>
            <a:ext cx="6910721" cy="6910721"/>
          </a:xfrm>
          <a:custGeom>
            <a:avLst/>
            <a:gdLst/>
            <a:ahLst/>
            <a:cxnLst/>
            <a:rect r="r" b="b" t="t" l="l"/>
            <a:pathLst>
              <a:path h="6910721" w="6910721">
                <a:moveTo>
                  <a:pt x="0" y="0"/>
                </a:moveTo>
                <a:lnTo>
                  <a:pt x="6910720" y="0"/>
                </a:lnTo>
                <a:lnTo>
                  <a:pt x="6910720" y="6910720"/>
                </a:lnTo>
                <a:lnTo>
                  <a:pt x="0" y="6910720"/>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13" id="13"/>
          <p:cNvGrpSpPr/>
          <p:nvPr/>
        </p:nvGrpSpPr>
        <p:grpSpPr>
          <a:xfrm rot="0">
            <a:off x="9144000" y="5578105"/>
            <a:ext cx="7613208" cy="3386493"/>
            <a:chOff x="0" y="0"/>
            <a:chExt cx="1179485" cy="524656"/>
          </a:xfrm>
        </p:grpSpPr>
        <p:sp>
          <p:nvSpPr>
            <p:cNvPr name="Freeform 14" id="14"/>
            <p:cNvSpPr/>
            <p:nvPr/>
          </p:nvSpPr>
          <p:spPr>
            <a:xfrm flipH="false" flipV="false" rot="0">
              <a:off x="0" y="0"/>
              <a:ext cx="1179485" cy="524656"/>
            </a:xfrm>
            <a:custGeom>
              <a:avLst/>
              <a:gdLst/>
              <a:ahLst/>
              <a:cxnLst/>
              <a:rect r="r" b="b" t="t" l="l"/>
              <a:pathLst>
                <a:path h="524656" w="1179485">
                  <a:moveTo>
                    <a:pt x="41693" y="0"/>
                  </a:moveTo>
                  <a:lnTo>
                    <a:pt x="1137792" y="0"/>
                  </a:lnTo>
                  <a:cubicBezTo>
                    <a:pt x="1160818" y="0"/>
                    <a:pt x="1179485" y="18667"/>
                    <a:pt x="1179485" y="41693"/>
                  </a:cubicBezTo>
                  <a:lnTo>
                    <a:pt x="1179485" y="482963"/>
                  </a:lnTo>
                  <a:cubicBezTo>
                    <a:pt x="1179485" y="505990"/>
                    <a:pt x="1160818" y="524656"/>
                    <a:pt x="1137792" y="524656"/>
                  </a:cubicBezTo>
                  <a:lnTo>
                    <a:pt x="41693" y="524656"/>
                  </a:lnTo>
                  <a:cubicBezTo>
                    <a:pt x="18667" y="524656"/>
                    <a:pt x="0" y="505990"/>
                    <a:pt x="0" y="482963"/>
                  </a:cubicBezTo>
                  <a:lnTo>
                    <a:pt x="0" y="41693"/>
                  </a:lnTo>
                  <a:cubicBezTo>
                    <a:pt x="0" y="18667"/>
                    <a:pt x="18667" y="0"/>
                    <a:pt x="41693" y="0"/>
                  </a:cubicBezTo>
                  <a:close/>
                </a:path>
              </a:pathLst>
            </a:custGeom>
            <a:blipFill>
              <a:blip r:embed="rId6"/>
              <a:stretch>
                <a:fillRect l="0" t="-722" r="0" b="-722"/>
              </a:stretch>
            </a:blipFill>
          </p:spPr>
        </p:sp>
      </p:grpSp>
      <p:grpSp>
        <p:nvGrpSpPr>
          <p:cNvPr name="Group 15" id="15"/>
          <p:cNvGrpSpPr/>
          <p:nvPr/>
        </p:nvGrpSpPr>
        <p:grpSpPr>
          <a:xfrm rot="0">
            <a:off x="1247411" y="7985538"/>
            <a:ext cx="2437000" cy="787252"/>
            <a:chOff x="0" y="0"/>
            <a:chExt cx="641844" cy="207342"/>
          </a:xfrm>
        </p:grpSpPr>
        <p:sp>
          <p:nvSpPr>
            <p:cNvPr name="Freeform 16" id="16"/>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7" id="17"/>
            <p:cNvSpPr txBox="true"/>
            <p:nvPr/>
          </p:nvSpPr>
          <p:spPr>
            <a:xfrm>
              <a:off x="0" y="-38100"/>
              <a:ext cx="641844" cy="245442"/>
            </a:xfrm>
            <a:prstGeom prst="rect">
              <a:avLst/>
            </a:prstGeom>
          </p:spPr>
          <p:txBody>
            <a:bodyPr anchor="ctr" rtlCol="false" tIns="50800" lIns="50800" bIns="50800" rIns="50800"/>
            <a:lstStyle/>
            <a:p>
              <a:pPr algn="ctr" marL="0" indent="0" lvl="0">
                <a:lnSpc>
                  <a:spcPts val="2661"/>
                </a:lnSpc>
              </a:pPr>
              <a:r>
                <a:rPr lang="en-US" b="true" sz="1901">
                  <a:solidFill>
                    <a:srgbClr val="000000"/>
                  </a:solidFill>
                  <a:latin typeface="Montserrat Bold"/>
                  <a:ea typeface="Montserrat Bold"/>
                  <a:cs typeface="Montserrat Bold"/>
                  <a:sym typeface="Montserrat Bold"/>
                </a:rPr>
                <a:t>NEXT SLIDE</a:t>
              </a:r>
            </a:p>
          </p:txBody>
        </p:sp>
      </p:grpSp>
      <p:grpSp>
        <p:nvGrpSpPr>
          <p:cNvPr name="Group 18" id="18"/>
          <p:cNvGrpSpPr/>
          <p:nvPr/>
        </p:nvGrpSpPr>
        <p:grpSpPr>
          <a:xfrm rot="-5400000">
            <a:off x="10315569" y="7780164"/>
            <a:ext cx="760864" cy="2195408"/>
            <a:chOff x="0" y="0"/>
            <a:chExt cx="238315" cy="687639"/>
          </a:xfrm>
        </p:grpSpPr>
        <p:sp>
          <p:nvSpPr>
            <p:cNvPr name="Freeform 19" id="1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0" id="2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1" id="21"/>
          <p:cNvGrpSpPr/>
          <p:nvPr/>
        </p:nvGrpSpPr>
        <p:grpSpPr>
          <a:xfrm rot="-5400000">
            <a:off x="12406857" y="7780164"/>
            <a:ext cx="760864" cy="2195408"/>
            <a:chOff x="0" y="0"/>
            <a:chExt cx="238315" cy="687639"/>
          </a:xfrm>
        </p:grpSpPr>
        <p:sp>
          <p:nvSpPr>
            <p:cNvPr name="Freeform 22" id="2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23" id="2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0">
            <a:off x="16027175" y="6039227"/>
            <a:ext cx="1232125" cy="1232125"/>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7" id="27"/>
          <p:cNvSpPr txBox="true"/>
          <p:nvPr/>
        </p:nvSpPr>
        <p:spPr>
          <a:xfrm rot="0">
            <a:off x="10237201" y="793875"/>
            <a:ext cx="2024119" cy="272336"/>
          </a:xfrm>
          <a:prstGeom prst="rect">
            <a:avLst/>
          </a:prstGeom>
        </p:spPr>
        <p:txBody>
          <a:bodyPr anchor="t" rtlCol="false" tIns="0" lIns="0" bIns="0" rIns="0">
            <a:spAutoFit/>
          </a:bodyPr>
          <a:lstStyle/>
          <a:p>
            <a:pPr algn="ctr" marL="0" indent="0" lvl="0">
              <a:lnSpc>
                <a:spcPts val="2314"/>
              </a:lnSpc>
              <a:spcBef>
                <a:spcPct val="0"/>
              </a:spcBef>
            </a:pPr>
            <a:r>
              <a:rPr lang="en-US" b="true" sz="1653" spc="191">
                <a:solidFill>
                  <a:srgbClr val="000000"/>
                </a:solidFill>
                <a:latin typeface="Montserrat Bold"/>
                <a:ea typeface="Montserrat Bold"/>
                <a:cs typeface="Montserrat Bold"/>
                <a:sym typeface="Montserrat Bold"/>
              </a:rPr>
              <a:t>CONTENT</a:t>
            </a:r>
          </a:p>
        </p:txBody>
      </p:sp>
      <p:sp>
        <p:nvSpPr>
          <p:cNvPr name="TextBox 28" id="28"/>
          <p:cNvSpPr txBox="true"/>
          <p:nvPr/>
        </p:nvSpPr>
        <p:spPr>
          <a:xfrm rot="0">
            <a:off x="12482593" y="793875"/>
            <a:ext cx="2349448"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OTHERS</a:t>
            </a:r>
          </a:p>
        </p:txBody>
      </p:sp>
      <p:sp>
        <p:nvSpPr>
          <p:cNvPr name="TextBox 29" id="29"/>
          <p:cNvSpPr txBox="true"/>
          <p:nvPr/>
        </p:nvSpPr>
        <p:spPr>
          <a:xfrm rot="0">
            <a:off x="1161686" y="2496716"/>
            <a:ext cx="16097614" cy="1938597"/>
          </a:xfrm>
          <a:prstGeom prst="rect">
            <a:avLst/>
          </a:prstGeom>
        </p:spPr>
        <p:txBody>
          <a:bodyPr anchor="t" rtlCol="false" tIns="0" lIns="0" bIns="0" rIns="0">
            <a:spAutoFit/>
          </a:bodyPr>
          <a:lstStyle/>
          <a:p>
            <a:pPr algn="l" marL="0" indent="0" lvl="0">
              <a:lnSpc>
                <a:spcPts val="14042"/>
              </a:lnSpc>
            </a:pPr>
            <a:r>
              <a:rPr lang="en-US" b="true" sz="15957" spc="-1069">
                <a:solidFill>
                  <a:srgbClr val="000000"/>
                </a:solidFill>
                <a:latin typeface="Montserrat Bold"/>
                <a:ea typeface="Montserrat Bold"/>
                <a:cs typeface="Montserrat Bold"/>
                <a:sym typeface="Montserrat Bold"/>
              </a:rPr>
              <a:t>Case Studies</a:t>
            </a:r>
          </a:p>
        </p:txBody>
      </p:sp>
      <p:sp>
        <p:nvSpPr>
          <p:cNvPr name="TextBox 30" id="30"/>
          <p:cNvSpPr txBox="true"/>
          <p:nvPr/>
        </p:nvSpPr>
        <p:spPr>
          <a:xfrm rot="0">
            <a:off x="1247411" y="5626568"/>
            <a:ext cx="6823854" cy="1564117"/>
          </a:xfrm>
          <a:prstGeom prst="rect">
            <a:avLst/>
          </a:prstGeom>
        </p:spPr>
        <p:txBody>
          <a:bodyPr anchor="t" rtlCol="false" tIns="0" lIns="0" bIns="0" rIns="0">
            <a:spAutoFit/>
          </a:bodyPr>
          <a:lstStyle/>
          <a:p>
            <a:pPr algn="just" marL="0" indent="0" lvl="0">
              <a:lnSpc>
                <a:spcPts val="2490"/>
              </a:lnSpc>
            </a:pPr>
            <a:r>
              <a:rPr lang="en-US" sz="1901" spc="-68">
                <a:solidFill>
                  <a:srgbClr val="000000"/>
                </a:solidFill>
                <a:latin typeface="Montserrat"/>
                <a:ea typeface="Montserrat"/>
                <a:cs typeface="Montserrat"/>
                <a:sym typeface="Montserrat"/>
              </a:rPr>
              <a:t>Google Arts &amp; Culture enabled virtual museum tours globally. The Louvre's AR app guides visitors through exhibits with immersive overlays. Thomas Cook's VR "Try Before You Fly" campaign boosted bookings by 190%. Japan's AR navigation app transformed tourist wayfinding in Tokyo.</a:t>
            </a:r>
          </a:p>
        </p:txBody>
      </p:sp>
    </p:spTree>
  </p:cSld>
  <p:clrMapOvr>
    <a:masterClrMapping/>
  </p:clrMapOvr>
  <p:transition spd="fast">
    <p:cover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9" id="9"/>
          <p:cNvGrpSpPr/>
          <p:nvPr/>
        </p:nvGrpSpPr>
        <p:grpSpPr>
          <a:xfrm rot="0">
            <a:off x="1457525" y="2267813"/>
            <a:ext cx="5246370" cy="6649160"/>
            <a:chOff x="0" y="0"/>
            <a:chExt cx="812800" cy="1030129"/>
          </a:xfrm>
        </p:grpSpPr>
        <p:sp>
          <p:nvSpPr>
            <p:cNvPr name="Freeform 10" id="10"/>
            <p:cNvSpPr/>
            <p:nvPr/>
          </p:nvSpPr>
          <p:spPr>
            <a:xfrm flipH="false" flipV="false" rot="0">
              <a:off x="0" y="0"/>
              <a:ext cx="812800" cy="1030129"/>
            </a:xfrm>
            <a:custGeom>
              <a:avLst/>
              <a:gdLst/>
              <a:ahLst/>
              <a:cxnLst/>
              <a:rect r="r" b="b" t="t" l="l"/>
              <a:pathLst>
                <a:path h="1030129" w="812800">
                  <a:moveTo>
                    <a:pt x="60503" y="0"/>
                  </a:moveTo>
                  <a:lnTo>
                    <a:pt x="752297" y="0"/>
                  </a:lnTo>
                  <a:cubicBezTo>
                    <a:pt x="785712" y="0"/>
                    <a:pt x="812800" y="27088"/>
                    <a:pt x="812800" y="60503"/>
                  </a:cubicBezTo>
                  <a:lnTo>
                    <a:pt x="812800" y="969626"/>
                  </a:lnTo>
                  <a:cubicBezTo>
                    <a:pt x="812800" y="1003041"/>
                    <a:pt x="785712" y="1030129"/>
                    <a:pt x="752297" y="1030129"/>
                  </a:cubicBezTo>
                  <a:lnTo>
                    <a:pt x="60503" y="1030129"/>
                  </a:lnTo>
                  <a:cubicBezTo>
                    <a:pt x="27088" y="1030129"/>
                    <a:pt x="0" y="1003041"/>
                    <a:pt x="0" y="969626"/>
                  </a:cubicBezTo>
                  <a:lnTo>
                    <a:pt x="0" y="60503"/>
                  </a:lnTo>
                  <a:cubicBezTo>
                    <a:pt x="0" y="27088"/>
                    <a:pt x="27088" y="0"/>
                    <a:pt x="60503" y="0"/>
                  </a:cubicBezTo>
                  <a:close/>
                </a:path>
              </a:pathLst>
            </a:custGeom>
            <a:blipFill>
              <a:blip r:embed="rId4"/>
              <a:stretch>
                <a:fillRect l="0" t="-17" r="0" b="-17"/>
              </a:stretch>
            </a:blipFill>
          </p:spPr>
        </p:sp>
      </p:grpSp>
      <p:grpSp>
        <p:nvGrpSpPr>
          <p:cNvPr name="Group 11" id="11"/>
          <p:cNvGrpSpPr/>
          <p:nvPr/>
        </p:nvGrpSpPr>
        <p:grpSpPr>
          <a:xfrm rot="0">
            <a:off x="1126643" y="3024376"/>
            <a:ext cx="904854" cy="2610879"/>
            <a:chOff x="0" y="0"/>
            <a:chExt cx="238315" cy="687639"/>
          </a:xfrm>
        </p:grpSpPr>
        <p:sp>
          <p:nvSpPr>
            <p:cNvPr name="Freeform 12" id="12"/>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3" id="13"/>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4" id="14"/>
          <p:cNvGrpSpPr/>
          <p:nvPr/>
        </p:nvGrpSpPr>
        <p:grpSpPr>
          <a:xfrm rot="0">
            <a:off x="1126643" y="5511430"/>
            <a:ext cx="904854" cy="2610879"/>
            <a:chOff x="0" y="0"/>
            <a:chExt cx="238315" cy="687639"/>
          </a:xfrm>
        </p:grpSpPr>
        <p:sp>
          <p:nvSpPr>
            <p:cNvPr name="Freeform 15" id="1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6" id="1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0">
            <a:off x="5940229" y="6286362"/>
            <a:ext cx="1527333" cy="152733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Freeform 20" id="20"/>
          <p:cNvSpPr/>
          <p:nvPr/>
        </p:nvSpPr>
        <p:spPr>
          <a:xfrm flipH="false" flipV="false" rot="0">
            <a:off x="12396383" y="1395995"/>
            <a:ext cx="5654034" cy="5654034"/>
          </a:xfrm>
          <a:custGeom>
            <a:avLst/>
            <a:gdLst/>
            <a:ahLst/>
            <a:cxnLst/>
            <a:rect r="r" b="b" t="t" l="l"/>
            <a:pathLst>
              <a:path h="5654034" w="5654034">
                <a:moveTo>
                  <a:pt x="0" y="0"/>
                </a:moveTo>
                <a:lnTo>
                  <a:pt x="5654033" y="0"/>
                </a:lnTo>
                <a:lnTo>
                  <a:pt x="5654033" y="5654034"/>
                </a:lnTo>
                <a:lnTo>
                  <a:pt x="0" y="5654034"/>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grpSp>
        <p:nvGrpSpPr>
          <p:cNvPr name="Group 21" id="21"/>
          <p:cNvGrpSpPr/>
          <p:nvPr/>
        </p:nvGrpSpPr>
        <p:grpSpPr>
          <a:xfrm rot="0">
            <a:off x="8144729" y="8185170"/>
            <a:ext cx="2437000" cy="787252"/>
            <a:chOff x="0" y="0"/>
            <a:chExt cx="641844" cy="207342"/>
          </a:xfrm>
        </p:grpSpPr>
        <p:sp>
          <p:nvSpPr>
            <p:cNvPr name="Freeform 22" id="22"/>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3" id="23"/>
            <p:cNvSpPr txBox="true"/>
            <p:nvPr/>
          </p:nvSpPr>
          <p:spPr>
            <a:xfrm>
              <a:off x="0" y="-47625"/>
              <a:ext cx="641844" cy="254967"/>
            </a:xfrm>
            <a:prstGeom prst="rect">
              <a:avLst/>
            </a:prstGeom>
          </p:spPr>
          <p:txBody>
            <a:bodyPr anchor="ctr" rtlCol="false" tIns="50800" lIns="50800" bIns="50800" rIns="50800"/>
            <a:lstStyle/>
            <a:p>
              <a:pPr algn="ctr" marL="0" indent="0" lvl="0">
                <a:lnSpc>
                  <a:spcPts val="3217"/>
                </a:lnSpc>
              </a:pPr>
              <a:r>
                <a:rPr lang="en-US" b="true" sz="2298">
                  <a:solidFill>
                    <a:srgbClr val="000000"/>
                  </a:solidFill>
                  <a:latin typeface="Montserrat Bold"/>
                  <a:ea typeface="Montserrat Bold"/>
                  <a:cs typeface="Montserrat Bold"/>
                  <a:sym typeface="Montserrat Bold"/>
                </a:rPr>
                <a:t>NEXT SLIDE</a:t>
              </a:r>
            </a:p>
          </p:txBody>
        </p:sp>
      </p:grpSp>
      <p:sp>
        <p:nvSpPr>
          <p:cNvPr name="TextBox 24" id="24"/>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25" id="25"/>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26" id="26"/>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b="true" sz="1998">
                <a:solidFill>
                  <a:srgbClr val="000000"/>
                </a:solidFill>
                <a:latin typeface="Montserrat Bold"/>
                <a:ea typeface="Montserrat Bold"/>
                <a:cs typeface="Montserrat Bold"/>
                <a:sym typeface="Montserrat Bold"/>
              </a:rPr>
              <a:t>ABOUT</a:t>
            </a:r>
          </a:p>
        </p:txBody>
      </p:sp>
      <p:sp>
        <p:nvSpPr>
          <p:cNvPr name="TextBox 27" id="27"/>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CONTENT</a:t>
            </a:r>
          </a:p>
        </p:txBody>
      </p:sp>
      <p:sp>
        <p:nvSpPr>
          <p:cNvPr name="TextBox 28" id="28"/>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OTHERS</a:t>
            </a:r>
          </a:p>
        </p:txBody>
      </p:sp>
      <p:sp>
        <p:nvSpPr>
          <p:cNvPr name="TextBox 29" id="29"/>
          <p:cNvSpPr txBox="true"/>
          <p:nvPr/>
        </p:nvSpPr>
        <p:spPr>
          <a:xfrm rot="0">
            <a:off x="8059004" y="2225932"/>
            <a:ext cx="9114571" cy="3002161"/>
          </a:xfrm>
          <a:prstGeom prst="rect">
            <a:avLst/>
          </a:prstGeom>
        </p:spPr>
        <p:txBody>
          <a:bodyPr anchor="t" rtlCol="false" tIns="0" lIns="0" bIns="0" rIns="0">
            <a:spAutoFit/>
          </a:bodyPr>
          <a:lstStyle/>
          <a:p>
            <a:pPr algn="l" marL="0" indent="0" lvl="0">
              <a:lnSpc>
                <a:spcPts val="11382"/>
              </a:lnSpc>
            </a:pPr>
            <a:r>
              <a:rPr lang="en-US" b="true" sz="12934" spc="-866">
                <a:solidFill>
                  <a:srgbClr val="000000"/>
                </a:solidFill>
                <a:latin typeface="Montserrat Bold"/>
                <a:ea typeface="Montserrat Bold"/>
                <a:cs typeface="Montserrat Bold"/>
                <a:sym typeface="Montserrat Bold"/>
              </a:rPr>
              <a:t>Future Trends</a:t>
            </a:r>
          </a:p>
        </p:txBody>
      </p:sp>
      <p:sp>
        <p:nvSpPr>
          <p:cNvPr name="TextBox 30" id="30"/>
          <p:cNvSpPr txBox="true"/>
          <p:nvPr/>
        </p:nvSpPr>
        <p:spPr>
          <a:xfrm rot="0">
            <a:off x="8239979" y="5550301"/>
            <a:ext cx="7654851" cy="2282467"/>
          </a:xfrm>
          <a:prstGeom prst="rect">
            <a:avLst/>
          </a:prstGeom>
        </p:spPr>
        <p:txBody>
          <a:bodyPr anchor="t" rtlCol="false" tIns="0" lIns="0" bIns="0" rIns="0">
            <a:spAutoFit/>
          </a:bodyPr>
          <a:lstStyle/>
          <a:p>
            <a:pPr algn="just" marL="0" indent="0" lvl="0">
              <a:lnSpc>
                <a:spcPts val="3010"/>
              </a:lnSpc>
            </a:pPr>
            <a:r>
              <a:rPr lang="en-US" sz="2298" spc="-82">
                <a:solidFill>
                  <a:srgbClr val="000000"/>
                </a:solidFill>
                <a:latin typeface="Montserrat"/>
                <a:ea typeface="Montserrat"/>
                <a:cs typeface="Montserrat"/>
                <a:sym typeface="Montserrat"/>
              </a:rPr>
              <a:t>The future of AR/VR in tourism points to hyper-personalized experiences, AI-driven virtual guides, and 5G-powered immersive travel previews. Haptic feedback, holographic displays, and spatial computing will redefine how travelers explore destinations — both physically and virtually.</a:t>
            </a:r>
          </a:p>
        </p:txBody>
      </p:sp>
    </p:spTree>
  </p:cSld>
  <p:clrMapOvr>
    <a:masterClrMapping/>
  </p:clrMapOvr>
  <p:transition spd="fast">
    <p:cover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sp>
        <p:nvSpPr>
          <p:cNvPr name="Freeform 6" id="6"/>
          <p:cNvSpPr/>
          <p:nvPr/>
        </p:nvSpPr>
        <p:spPr>
          <a:xfrm flipH="false" flipV="false" rot="0">
            <a:off x="3273095" y="989614"/>
            <a:ext cx="7783144" cy="7783144"/>
          </a:xfrm>
          <a:custGeom>
            <a:avLst/>
            <a:gdLst/>
            <a:ahLst/>
            <a:cxnLst/>
            <a:rect r="r" b="b" t="t" l="l"/>
            <a:pathLst>
              <a:path h="7783144" w="7783144">
                <a:moveTo>
                  <a:pt x="0" y="0"/>
                </a:moveTo>
                <a:lnTo>
                  <a:pt x="7783144" y="0"/>
                </a:lnTo>
                <a:lnTo>
                  <a:pt x="7783144" y="7783144"/>
                </a:lnTo>
                <a:lnTo>
                  <a:pt x="0" y="7783144"/>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grpSp>
        <p:nvGrpSpPr>
          <p:cNvPr name="Group 10" id="10"/>
          <p:cNvGrpSpPr/>
          <p:nvPr/>
        </p:nvGrpSpPr>
        <p:grpSpPr>
          <a:xfrm rot="0">
            <a:off x="1028700" y="4918852"/>
            <a:ext cx="16230600" cy="4216555"/>
            <a:chOff x="0" y="0"/>
            <a:chExt cx="2514545" cy="653255"/>
          </a:xfrm>
        </p:grpSpPr>
        <p:sp>
          <p:nvSpPr>
            <p:cNvPr name="Freeform 11" id="11"/>
            <p:cNvSpPr/>
            <p:nvPr/>
          </p:nvSpPr>
          <p:spPr>
            <a:xfrm flipH="false" flipV="false" rot="0">
              <a:off x="0" y="0"/>
              <a:ext cx="2514545" cy="653255"/>
            </a:xfrm>
            <a:custGeom>
              <a:avLst/>
              <a:gdLst/>
              <a:ahLst/>
              <a:cxnLst/>
              <a:rect r="r" b="b" t="t" l="l"/>
              <a:pathLst>
                <a:path h="653255" w="2514545">
                  <a:moveTo>
                    <a:pt x="19557" y="0"/>
                  </a:moveTo>
                  <a:lnTo>
                    <a:pt x="2494988" y="0"/>
                  </a:lnTo>
                  <a:cubicBezTo>
                    <a:pt x="2500175" y="0"/>
                    <a:pt x="2505149" y="2060"/>
                    <a:pt x="2508816" y="5728"/>
                  </a:cubicBezTo>
                  <a:cubicBezTo>
                    <a:pt x="2512484" y="9396"/>
                    <a:pt x="2514545" y="14370"/>
                    <a:pt x="2514545" y="19557"/>
                  </a:cubicBezTo>
                  <a:lnTo>
                    <a:pt x="2514545" y="633698"/>
                  </a:lnTo>
                  <a:cubicBezTo>
                    <a:pt x="2514545" y="638885"/>
                    <a:pt x="2512484" y="643859"/>
                    <a:pt x="2508816" y="647527"/>
                  </a:cubicBezTo>
                  <a:cubicBezTo>
                    <a:pt x="2505149" y="651194"/>
                    <a:pt x="2500175" y="653255"/>
                    <a:pt x="2494988" y="653255"/>
                  </a:cubicBezTo>
                  <a:lnTo>
                    <a:pt x="19557" y="653255"/>
                  </a:lnTo>
                  <a:cubicBezTo>
                    <a:pt x="14370" y="653255"/>
                    <a:pt x="9396" y="651194"/>
                    <a:pt x="5728" y="647527"/>
                  </a:cubicBezTo>
                  <a:cubicBezTo>
                    <a:pt x="2060" y="643859"/>
                    <a:pt x="0" y="638885"/>
                    <a:pt x="0" y="633698"/>
                  </a:cubicBezTo>
                  <a:lnTo>
                    <a:pt x="0" y="19557"/>
                  </a:lnTo>
                  <a:cubicBezTo>
                    <a:pt x="0" y="14370"/>
                    <a:pt x="2060" y="9396"/>
                    <a:pt x="5728" y="5728"/>
                  </a:cubicBezTo>
                  <a:cubicBezTo>
                    <a:pt x="9396" y="2060"/>
                    <a:pt x="14370" y="0"/>
                    <a:pt x="19557" y="0"/>
                  </a:cubicBezTo>
                  <a:close/>
                </a:path>
              </a:pathLst>
            </a:custGeom>
            <a:blipFill>
              <a:blip r:embed="rId6"/>
              <a:stretch>
                <a:fillRect l="0" t="-521" r="0" b="-521"/>
              </a:stretch>
            </a:blipFill>
          </p:spPr>
        </p:sp>
      </p:grpSp>
      <p:grpSp>
        <p:nvGrpSpPr>
          <p:cNvPr name="Group 12" id="12"/>
          <p:cNvGrpSpPr/>
          <p:nvPr/>
        </p:nvGrpSpPr>
        <p:grpSpPr>
          <a:xfrm rot="-5400000">
            <a:off x="2415785" y="8037703"/>
            <a:ext cx="760864" cy="2195408"/>
            <a:chOff x="0" y="0"/>
            <a:chExt cx="238315" cy="687639"/>
          </a:xfrm>
        </p:grpSpPr>
        <p:sp>
          <p:nvSpPr>
            <p:cNvPr name="Freeform 13" id="13"/>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4" id="14"/>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5" id="15"/>
          <p:cNvGrpSpPr/>
          <p:nvPr/>
        </p:nvGrpSpPr>
        <p:grpSpPr>
          <a:xfrm rot="-5400000">
            <a:off x="4507073" y="8037703"/>
            <a:ext cx="760864" cy="2195408"/>
            <a:chOff x="0" y="0"/>
            <a:chExt cx="238315" cy="687639"/>
          </a:xfrm>
        </p:grpSpPr>
        <p:sp>
          <p:nvSpPr>
            <p:cNvPr name="Freeform 16" id="16"/>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B4E100"/>
            </a:solidFill>
            <a:ln cap="rnd">
              <a:noFill/>
              <a:prstDash val="solid"/>
              <a:round/>
            </a:ln>
          </p:spPr>
        </p:sp>
        <p:sp>
          <p:nvSpPr>
            <p:cNvPr name="TextBox 17" id="17"/>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18" id="18"/>
          <p:cNvGrpSpPr/>
          <p:nvPr/>
        </p:nvGrpSpPr>
        <p:grpSpPr>
          <a:xfrm rot="0">
            <a:off x="16491290" y="5442347"/>
            <a:ext cx="1326922" cy="13269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800"/>
                </a:lnSpc>
              </a:pPr>
            </a:p>
          </p:txBody>
        </p:sp>
      </p:grpSp>
      <p:sp>
        <p:nvSpPr>
          <p:cNvPr name="TextBox 21" id="21"/>
          <p:cNvSpPr txBox="true"/>
          <p:nvPr/>
        </p:nvSpPr>
        <p:spPr>
          <a:xfrm rot="0">
            <a:off x="1126643" y="705801"/>
            <a:ext cx="3710438" cy="472217"/>
          </a:xfrm>
          <a:prstGeom prst="rect">
            <a:avLst/>
          </a:prstGeom>
        </p:spPr>
        <p:txBody>
          <a:bodyPr anchor="t" rtlCol="false" tIns="0" lIns="0" bIns="0" rIns="0">
            <a:spAutoFit/>
          </a:bodyPr>
          <a:lstStyle/>
          <a:p>
            <a:pPr algn="l" marL="0" indent="0" lvl="0">
              <a:lnSpc>
                <a:spcPts val="1863"/>
              </a:lnSpc>
            </a:pPr>
            <a:r>
              <a:rPr lang="en-US" b="true" sz="1901" spc="51">
                <a:solidFill>
                  <a:srgbClr val="000000"/>
                </a:solidFill>
                <a:latin typeface="Montserrat Bold"/>
                <a:ea typeface="Montserrat Bold"/>
                <a:cs typeface="Montserrat Bold"/>
                <a:sym typeface="Montserrat Bold"/>
              </a:rPr>
              <a:t>CONSULTING REPORT</a:t>
            </a:r>
          </a:p>
          <a:p>
            <a:pPr algn="l" marL="0" indent="0" lvl="0">
              <a:lnSpc>
                <a:spcPts val="1863"/>
              </a:lnSpc>
            </a:pPr>
            <a:r>
              <a:rPr lang="en-US" b="true" sz="1901" spc="51">
                <a:solidFill>
                  <a:srgbClr val="000000"/>
                </a:solidFill>
                <a:latin typeface="Montserrat Bold"/>
                <a:ea typeface="Montserrat Bold"/>
                <a:cs typeface="Montserrat Bold"/>
                <a:sym typeface="Montserrat Bold"/>
              </a:rPr>
              <a:t>PRESENTATION</a:t>
            </a:r>
          </a:p>
        </p:txBody>
      </p:sp>
      <p:sp>
        <p:nvSpPr>
          <p:cNvPr name="TextBox 22" id="22"/>
          <p:cNvSpPr txBox="true"/>
          <p:nvPr/>
        </p:nvSpPr>
        <p:spPr>
          <a:xfrm rot="0">
            <a:off x="5718971" y="793875"/>
            <a:ext cx="1755559"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HOME</a:t>
            </a:r>
          </a:p>
        </p:txBody>
      </p:sp>
      <p:sp>
        <p:nvSpPr>
          <p:cNvPr name="TextBox 23" id="23"/>
          <p:cNvSpPr txBox="true"/>
          <p:nvPr/>
        </p:nvSpPr>
        <p:spPr>
          <a:xfrm rot="0">
            <a:off x="7844217" y="793875"/>
            <a:ext cx="2013772" cy="272336"/>
          </a:xfrm>
          <a:prstGeom prst="rect">
            <a:avLst/>
          </a:prstGeom>
        </p:spPr>
        <p:txBody>
          <a:bodyPr anchor="t" rtlCol="false" tIns="0" lIns="0" bIns="0" rIns="0">
            <a:spAutoFit/>
          </a:bodyPr>
          <a:lstStyle/>
          <a:p>
            <a:pPr algn="ctr" marL="0" indent="0" lvl="0">
              <a:lnSpc>
                <a:spcPts val="2314"/>
              </a:lnSpc>
              <a:spcBef>
                <a:spcPct val="0"/>
              </a:spcBef>
            </a:pPr>
            <a:r>
              <a:rPr lang="en-US" sz="1653">
                <a:solidFill>
                  <a:srgbClr val="000000"/>
                </a:solidFill>
                <a:latin typeface="Montserrat"/>
                <a:ea typeface="Montserrat"/>
                <a:cs typeface="Montserrat"/>
                <a:sym typeface="Montserrat"/>
              </a:rPr>
              <a:t>ABOUT</a:t>
            </a:r>
          </a:p>
        </p:txBody>
      </p:sp>
      <p:sp>
        <p:nvSpPr>
          <p:cNvPr name="TextBox 24" id="24"/>
          <p:cNvSpPr txBox="true"/>
          <p:nvPr/>
        </p:nvSpPr>
        <p:spPr>
          <a:xfrm rot="0">
            <a:off x="10237201" y="793875"/>
            <a:ext cx="2024119" cy="272336"/>
          </a:xfrm>
          <a:prstGeom prst="rect">
            <a:avLst/>
          </a:prstGeom>
        </p:spPr>
        <p:txBody>
          <a:bodyPr anchor="t" rtlCol="false" tIns="0" lIns="0" bIns="0" rIns="0">
            <a:spAutoFit/>
          </a:bodyPr>
          <a:lstStyle/>
          <a:p>
            <a:pPr algn="ctr" marL="0" indent="0" lvl="0">
              <a:lnSpc>
                <a:spcPts val="2314"/>
              </a:lnSpc>
              <a:spcBef>
                <a:spcPct val="0"/>
              </a:spcBef>
            </a:pPr>
            <a:r>
              <a:rPr lang="en-US" b="true" sz="1653" spc="191">
                <a:solidFill>
                  <a:srgbClr val="000000"/>
                </a:solidFill>
                <a:latin typeface="Montserrat Bold"/>
                <a:ea typeface="Montserrat Bold"/>
                <a:cs typeface="Montserrat Bold"/>
                <a:sym typeface="Montserrat Bold"/>
              </a:rPr>
              <a:t>CONTENT</a:t>
            </a:r>
          </a:p>
        </p:txBody>
      </p:sp>
      <p:sp>
        <p:nvSpPr>
          <p:cNvPr name="TextBox 25" id="25"/>
          <p:cNvSpPr txBox="true"/>
          <p:nvPr/>
        </p:nvSpPr>
        <p:spPr>
          <a:xfrm rot="0">
            <a:off x="12482593" y="793875"/>
            <a:ext cx="2349448" cy="272336"/>
          </a:xfrm>
          <a:prstGeom prst="rect">
            <a:avLst/>
          </a:prstGeom>
        </p:spPr>
        <p:txBody>
          <a:bodyPr anchor="t" rtlCol="false" tIns="0" lIns="0" bIns="0" rIns="0">
            <a:spAutoFit/>
          </a:bodyPr>
          <a:lstStyle/>
          <a:p>
            <a:pPr algn="ctr" marL="0" indent="0" lvl="0">
              <a:lnSpc>
                <a:spcPts val="2314"/>
              </a:lnSpc>
              <a:spcBef>
                <a:spcPct val="0"/>
              </a:spcBef>
            </a:pPr>
            <a:r>
              <a:rPr lang="en-US" sz="1653" spc="191">
                <a:solidFill>
                  <a:srgbClr val="000000"/>
                </a:solidFill>
                <a:latin typeface="Montserrat"/>
                <a:ea typeface="Montserrat"/>
                <a:cs typeface="Montserrat"/>
                <a:sym typeface="Montserrat"/>
              </a:rPr>
              <a:t>OTHERS</a:t>
            </a:r>
          </a:p>
        </p:txBody>
      </p:sp>
      <p:sp>
        <p:nvSpPr>
          <p:cNvPr name="TextBox 26" id="26"/>
          <p:cNvSpPr txBox="true"/>
          <p:nvPr/>
        </p:nvSpPr>
        <p:spPr>
          <a:xfrm rot="0">
            <a:off x="9247663" y="2160158"/>
            <a:ext cx="7954487" cy="1878442"/>
          </a:xfrm>
          <a:prstGeom prst="rect">
            <a:avLst/>
          </a:prstGeom>
        </p:spPr>
        <p:txBody>
          <a:bodyPr anchor="t" rtlCol="false" tIns="0" lIns="0" bIns="0" rIns="0">
            <a:spAutoFit/>
          </a:bodyPr>
          <a:lstStyle/>
          <a:p>
            <a:pPr algn="just" marL="0" indent="0" lvl="0">
              <a:lnSpc>
                <a:spcPts val="2490"/>
              </a:lnSpc>
            </a:pPr>
            <a:r>
              <a:rPr lang="en-US" sz="1901" spc="-68">
                <a:solidFill>
                  <a:srgbClr val="000000"/>
                </a:solidFill>
                <a:latin typeface="Montserrat"/>
                <a:ea typeface="Montserrat"/>
                <a:cs typeface="Montserrat"/>
                <a:sym typeface="Montserrat"/>
              </a:rPr>
              <a:t>Artificial intelligence amplifies the power of AR and VR in tourism by enabling personalized, adaptive experiences. AI-driven algorithms analyze traveler preferences to curate virtual tours, while real-time language translation and smart guides enhance AR navigation. Machine learning optimizes VR simulations, making immersive journeys more realistic and responsive to individual needs.</a:t>
            </a:r>
          </a:p>
        </p:txBody>
      </p:sp>
      <p:sp>
        <p:nvSpPr>
          <p:cNvPr name="TextBox 27" id="27"/>
          <p:cNvSpPr txBox="true"/>
          <p:nvPr/>
        </p:nvSpPr>
        <p:spPr>
          <a:xfrm rot="0">
            <a:off x="1126643" y="2255408"/>
            <a:ext cx="7822403" cy="722053"/>
          </a:xfrm>
          <a:prstGeom prst="rect">
            <a:avLst/>
          </a:prstGeom>
        </p:spPr>
        <p:txBody>
          <a:bodyPr anchor="t" rtlCol="false" tIns="0" lIns="0" bIns="0" rIns="0">
            <a:spAutoFit/>
          </a:bodyPr>
          <a:lstStyle/>
          <a:p>
            <a:pPr algn="just" marL="0" indent="0" lvl="0">
              <a:lnSpc>
                <a:spcPts val="5568"/>
              </a:lnSpc>
            </a:pPr>
            <a:r>
              <a:rPr lang="en-US" b="true" sz="5253" spc="-351">
                <a:solidFill>
                  <a:srgbClr val="000000"/>
                </a:solidFill>
                <a:latin typeface="Montserrat Bold"/>
                <a:ea typeface="Montserrat Bold"/>
                <a:cs typeface="Montserrat Bold"/>
                <a:sym typeface="Montserrat Bold"/>
              </a:rPr>
              <a:t>AI + AR/VR</a:t>
            </a:r>
          </a:p>
        </p:txBody>
      </p:sp>
    </p:spTree>
  </p:cSld>
  <p:clrMapOvr>
    <a:masterClrMapping/>
  </p:clrMapOvr>
  <p:transition spd="fast">
    <p:cover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Freeform 9" id="9"/>
          <p:cNvSpPr/>
          <p:nvPr/>
        </p:nvSpPr>
        <p:spPr>
          <a:xfrm flipH="false" flipV="false" rot="0">
            <a:off x="13668568" y="990490"/>
            <a:ext cx="6954104" cy="7015490"/>
          </a:xfrm>
          <a:custGeom>
            <a:avLst/>
            <a:gdLst/>
            <a:ahLst/>
            <a:cxnLst/>
            <a:rect r="r" b="b" t="t" l="l"/>
            <a:pathLst>
              <a:path h="7015490" w="6954104">
                <a:moveTo>
                  <a:pt x="0" y="0"/>
                </a:moveTo>
                <a:lnTo>
                  <a:pt x="6954104" y="0"/>
                </a:lnTo>
                <a:lnTo>
                  <a:pt x="6954104" y="7015490"/>
                </a:lnTo>
                <a:lnTo>
                  <a:pt x="0" y="7015490"/>
                </a:lnTo>
                <a:lnTo>
                  <a:pt x="0" y="0"/>
                </a:lnTo>
                <a:close/>
              </a:path>
            </a:pathLst>
          </a:custGeom>
          <a:blipFill>
            <a:blip r:embed="rId4">
              <a:alphaModFix amt="70000"/>
            </a:blip>
            <a:stretch>
              <a:fillRect l="0" t="0" r="0" b="0"/>
            </a:stretch>
          </a:blipFill>
        </p:spPr>
      </p:sp>
      <p:sp>
        <p:nvSpPr>
          <p:cNvPr name="Freeform 10" id="10"/>
          <p:cNvSpPr/>
          <p:nvPr/>
        </p:nvSpPr>
        <p:spPr>
          <a:xfrm flipH="false" flipV="false" rot="0">
            <a:off x="-1872002" y="2172242"/>
            <a:ext cx="6436750" cy="6436750"/>
          </a:xfrm>
          <a:custGeom>
            <a:avLst/>
            <a:gdLst/>
            <a:ahLst/>
            <a:cxnLst/>
            <a:rect r="r" b="b" t="t" l="l"/>
            <a:pathLst>
              <a:path h="6436750" w="6436750">
                <a:moveTo>
                  <a:pt x="0" y="0"/>
                </a:moveTo>
                <a:lnTo>
                  <a:pt x="6436751" y="0"/>
                </a:lnTo>
                <a:lnTo>
                  <a:pt x="6436751" y="6436750"/>
                </a:lnTo>
                <a:lnTo>
                  <a:pt x="0" y="6436750"/>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sp>
        <p:nvSpPr>
          <p:cNvPr name="TextBox 11" id="11"/>
          <p:cNvSpPr txBox="true"/>
          <p:nvPr/>
        </p:nvSpPr>
        <p:spPr>
          <a:xfrm rot="0">
            <a:off x="1126643" y="696276"/>
            <a:ext cx="3710438" cy="480396"/>
          </a:xfrm>
          <a:prstGeom prst="rect">
            <a:avLst/>
          </a:prstGeom>
        </p:spPr>
        <p:txBody>
          <a:bodyPr anchor="t" rtlCol="false" tIns="0" lIns="0" bIns="0" rIns="0">
            <a:spAutoFit/>
          </a:bodyPr>
          <a:lstStyle/>
          <a:p>
            <a:pPr algn="l" marL="0" indent="0" lvl="0">
              <a:lnSpc>
                <a:spcPts val="1815"/>
              </a:lnSpc>
            </a:pPr>
            <a:r>
              <a:rPr lang="en-US" b="true" sz="1852" spc="50">
                <a:solidFill>
                  <a:srgbClr val="000000"/>
                </a:solidFill>
                <a:latin typeface="Montserrat Bold"/>
                <a:ea typeface="Montserrat Bold"/>
                <a:cs typeface="Montserrat Bold"/>
                <a:sym typeface="Montserrat Bold"/>
              </a:rPr>
              <a:t>AR/VR IN TOURISM</a:t>
            </a:r>
          </a:p>
          <a:p>
            <a:pPr algn="l" marL="0" indent="0" lvl="0">
              <a:lnSpc>
                <a:spcPts val="1815"/>
              </a:lnSpc>
            </a:pPr>
            <a:r>
              <a:rPr lang="en-US" b="true" sz="1852" spc="50">
                <a:solidFill>
                  <a:srgbClr val="000000"/>
                </a:solidFill>
                <a:latin typeface="Montserrat Bold"/>
                <a:ea typeface="Montserrat Bold"/>
                <a:cs typeface="Montserrat Bold"/>
                <a:sym typeface="Montserrat Bold"/>
              </a:rPr>
              <a:t>PRESENTATION</a:t>
            </a:r>
          </a:p>
        </p:txBody>
      </p:sp>
      <p:sp>
        <p:nvSpPr>
          <p:cNvPr name="TextBox 12" id="12"/>
          <p:cNvSpPr txBox="true"/>
          <p:nvPr/>
        </p:nvSpPr>
        <p:spPr>
          <a:xfrm rot="0">
            <a:off x="5718971" y="793875"/>
            <a:ext cx="1755559" cy="273399"/>
          </a:xfrm>
          <a:prstGeom prst="rect">
            <a:avLst/>
          </a:prstGeom>
        </p:spPr>
        <p:txBody>
          <a:bodyPr anchor="t" rtlCol="false" tIns="0" lIns="0" bIns="0" rIns="0">
            <a:spAutoFit/>
          </a:bodyPr>
          <a:lstStyle/>
          <a:p>
            <a:pPr algn="ctr" marL="0" indent="0" lvl="0">
              <a:lnSpc>
                <a:spcPts val="2255"/>
              </a:lnSpc>
              <a:spcBef>
                <a:spcPct val="0"/>
              </a:spcBef>
            </a:pPr>
            <a:r>
              <a:rPr lang="en-US" sz="1611" spc="186">
                <a:solidFill>
                  <a:srgbClr val="000000"/>
                </a:solidFill>
                <a:latin typeface="Montserrat"/>
                <a:ea typeface="Montserrat"/>
                <a:cs typeface="Montserrat"/>
                <a:sym typeface="Montserrat"/>
              </a:rPr>
              <a:t>HOME</a:t>
            </a:r>
          </a:p>
        </p:txBody>
      </p:sp>
      <p:sp>
        <p:nvSpPr>
          <p:cNvPr name="TextBox 13" id="13"/>
          <p:cNvSpPr txBox="true"/>
          <p:nvPr/>
        </p:nvSpPr>
        <p:spPr>
          <a:xfrm rot="0">
            <a:off x="7844217" y="793875"/>
            <a:ext cx="2013772" cy="273399"/>
          </a:xfrm>
          <a:prstGeom prst="rect">
            <a:avLst/>
          </a:prstGeom>
        </p:spPr>
        <p:txBody>
          <a:bodyPr anchor="t" rtlCol="false" tIns="0" lIns="0" bIns="0" rIns="0">
            <a:spAutoFit/>
          </a:bodyPr>
          <a:lstStyle/>
          <a:p>
            <a:pPr algn="ctr" marL="0" indent="0" lvl="0">
              <a:lnSpc>
                <a:spcPts val="2255"/>
              </a:lnSpc>
              <a:spcBef>
                <a:spcPct val="0"/>
              </a:spcBef>
            </a:pPr>
            <a:r>
              <a:rPr lang="en-US" sz="1611">
                <a:solidFill>
                  <a:srgbClr val="000000"/>
                </a:solidFill>
                <a:latin typeface="Montserrat"/>
                <a:ea typeface="Montserrat"/>
                <a:cs typeface="Montserrat"/>
                <a:sym typeface="Montserrat"/>
              </a:rPr>
              <a:t>ABOUT</a:t>
            </a:r>
          </a:p>
        </p:txBody>
      </p:sp>
      <p:sp>
        <p:nvSpPr>
          <p:cNvPr name="TextBox 14" id="14"/>
          <p:cNvSpPr txBox="true"/>
          <p:nvPr/>
        </p:nvSpPr>
        <p:spPr>
          <a:xfrm rot="0">
            <a:off x="10237201" y="793875"/>
            <a:ext cx="2024119" cy="273399"/>
          </a:xfrm>
          <a:prstGeom prst="rect">
            <a:avLst/>
          </a:prstGeom>
        </p:spPr>
        <p:txBody>
          <a:bodyPr anchor="t" rtlCol="false" tIns="0" lIns="0" bIns="0" rIns="0">
            <a:spAutoFit/>
          </a:bodyPr>
          <a:lstStyle/>
          <a:p>
            <a:pPr algn="ctr" marL="0" indent="0" lvl="0">
              <a:lnSpc>
                <a:spcPts val="2255"/>
              </a:lnSpc>
              <a:spcBef>
                <a:spcPct val="0"/>
              </a:spcBef>
            </a:pPr>
            <a:r>
              <a:rPr lang="en-US" b="true" sz="1611" spc="186">
                <a:solidFill>
                  <a:srgbClr val="000000"/>
                </a:solidFill>
                <a:latin typeface="Montserrat Bold"/>
                <a:ea typeface="Montserrat Bold"/>
                <a:cs typeface="Montserrat Bold"/>
                <a:sym typeface="Montserrat Bold"/>
              </a:rPr>
              <a:t>CONTENT</a:t>
            </a:r>
          </a:p>
        </p:txBody>
      </p:sp>
      <p:sp>
        <p:nvSpPr>
          <p:cNvPr name="TextBox 15" id="15"/>
          <p:cNvSpPr txBox="true"/>
          <p:nvPr/>
        </p:nvSpPr>
        <p:spPr>
          <a:xfrm rot="0">
            <a:off x="12482593" y="793875"/>
            <a:ext cx="2349448" cy="273399"/>
          </a:xfrm>
          <a:prstGeom prst="rect">
            <a:avLst/>
          </a:prstGeom>
        </p:spPr>
        <p:txBody>
          <a:bodyPr anchor="t" rtlCol="false" tIns="0" lIns="0" bIns="0" rIns="0">
            <a:spAutoFit/>
          </a:bodyPr>
          <a:lstStyle/>
          <a:p>
            <a:pPr algn="ctr" marL="0" indent="0" lvl="0">
              <a:lnSpc>
                <a:spcPts val="2255"/>
              </a:lnSpc>
              <a:spcBef>
                <a:spcPct val="0"/>
              </a:spcBef>
            </a:pPr>
            <a:r>
              <a:rPr lang="en-US" sz="1611" spc="186">
                <a:solidFill>
                  <a:srgbClr val="000000"/>
                </a:solidFill>
                <a:latin typeface="Montserrat"/>
                <a:ea typeface="Montserrat"/>
                <a:cs typeface="Montserrat"/>
                <a:sym typeface="Montserrat"/>
              </a:rPr>
              <a:t>OTHERS</a:t>
            </a:r>
          </a:p>
        </p:txBody>
      </p:sp>
      <p:grpSp>
        <p:nvGrpSpPr>
          <p:cNvPr name="Group 16" id="16"/>
          <p:cNvGrpSpPr/>
          <p:nvPr/>
        </p:nvGrpSpPr>
        <p:grpSpPr>
          <a:xfrm rot="0">
            <a:off x="799326" y="8783971"/>
            <a:ext cx="16689348" cy="815308"/>
            <a:chOff x="0" y="0"/>
            <a:chExt cx="4395548" cy="214731"/>
          </a:xfrm>
        </p:grpSpPr>
        <p:sp>
          <p:nvSpPr>
            <p:cNvPr name="Freeform 17" id="17"/>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8" id="18"/>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9" id="19"/>
          <p:cNvGrpSpPr/>
          <p:nvPr/>
        </p:nvGrpSpPr>
        <p:grpSpPr>
          <a:xfrm rot="0">
            <a:off x="1028700" y="8960184"/>
            <a:ext cx="462882" cy="462882"/>
            <a:chOff x="0" y="0"/>
            <a:chExt cx="673100" cy="673100"/>
          </a:xfrm>
        </p:grpSpPr>
        <p:sp>
          <p:nvSpPr>
            <p:cNvPr name="Freeform 20" id="20"/>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1" id="21"/>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grpSp>
        <p:nvGrpSpPr>
          <p:cNvPr name="Group 22" id="22"/>
          <p:cNvGrpSpPr/>
          <p:nvPr/>
        </p:nvGrpSpPr>
        <p:grpSpPr>
          <a:xfrm rot="0">
            <a:off x="16796418" y="8960184"/>
            <a:ext cx="462882" cy="462882"/>
            <a:chOff x="0" y="0"/>
            <a:chExt cx="673100" cy="673100"/>
          </a:xfrm>
        </p:grpSpPr>
        <p:sp>
          <p:nvSpPr>
            <p:cNvPr name="Freeform 23" id="23"/>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4" id="24"/>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5" id="25"/>
          <p:cNvSpPr txBox="true"/>
          <p:nvPr/>
        </p:nvSpPr>
        <p:spPr>
          <a:xfrm rot="0">
            <a:off x="1461629" y="8939422"/>
            <a:ext cx="15364742" cy="481992"/>
          </a:xfrm>
          <a:prstGeom prst="rect">
            <a:avLst/>
          </a:prstGeom>
        </p:spPr>
        <p:txBody>
          <a:bodyPr anchor="t" rtlCol="false" tIns="0" lIns="0" bIns="0" rIns="0">
            <a:spAutoFit/>
          </a:bodyPr>
          <a:lstStyle/>
          <a:p>
            <a:pPr algn="ctr" marL="0" indent="0" lvl="0">
              <a:lnSpc>
                <a:spcPts val="3927"/>
              </a:lnSpc>
            </a:pPr>
            <a:r>
              <a:rPr lang="en-US" b="true" sz="2998" spc="-107">
                <a:solidFill>
                  <a:srgbClr val="FFFFFF"/>
                </a:solidFill>
                <a:latin typeface="Montserrat Bold"/>
                <a:ea typeface="Montserrat Bold"/>
                <a:cs typeface="Montserrat Bold"/>
                <a:sym typeface="Montserrat Bold"/>
              </a:rPr>
              <a:t>AR/VR IN TOURISM - THE FUTURE OF IMMERSIVE TRAVEL EXPERIENCES</a:t>
            </a:r>
          </a:p>
        </p:txBody>
      </p:sp>
      <p:grpSp>
        <p:nvGrpSpPr>
          <p:cNvPr name="Group 26" id="26"/>
          <p:cNvGrpSpPr/>
          <p:nvPr/>
        </p:nvGrpSpPr>
        <p:grpSpPr>
          <a:xfrm rot="0">
            <a:off x="7925500" y="6875137"/>
            <a:ext cx="2437000" cy="787252"/>
            <a:chOff x="0" y="0"/>
            <a:chExt cx="641844" cy="207342"/>
          </a:xfrm>
        </p:grpSpPr>
        <p:sp>
          <p:nvSpPr>
            <p:cNvPr name="Freeform 27" id="27"/>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28" id="28"/>
            <p:cNvSpPr txBox="true"/>
            <p:nvPr/>
          </p:nvSpPr>
          <p:spPr>
            <a:xfrm>
              <a:off x="0" y="-38100"/>
              <a:ext cx="641844" cy="245442"/>
            </a:xfrm>
            <a:prstGeom prst="rect">
              <a:avLst/>
            </a:prstGeom>
          </p:spPr>
          <p:txBody>
            <a:bodyPr anchor="ctr" rtlCol="false" tIns="50800" lIns="50800" bIns="50800" rIns="50800"/>
            <a:lstStyle/>
            <a:p>
              <a:pPr algn="ctr" marL="0" indent="0" lvl="0">
                <a:lnSpc>
                  <a:spcPts val="2594"/>
                </a:lnSpc>
              </a:pPr>
              <a:r>
                <a:rPr lang="en-US" b="true" sz="1852">
                  <a:solidFill>
                    <a:srgbClr val="000000"/>
                  </a:solidFill>
                  <a:latin typeface="Montserrat Bold"/>
                  <a:ea typeface="Montserrat Bold"/>
                  <a:cs typeface="Montserrat Bold"/>
                  <a:sym typeface="Montserrat Bold"/>
                </a:rPr>
                <a:t>THANK YOU</a:t>
              </a:r>
            </a:p>
          </p:txBody>
        </p:sp>
      </p:grpSp>
      <p:sp>
        <p:nvSpPr>
          <p:cNvPr name="TextBox 29" id="29"/>
          <p:cNvSpPr txBox="true"/>
          <p:nvPr/>
        </p:nvSpPr>
        <p:spPr>
          <a:xfrm rot="0">
            <a:off x="1654883" y="2680640"/>
            <a:ext cx="14978234" cy="3201498"/>
          </a:xfrm>
          <a:prstGeom prst="rect">
            <a:avLst/>
          </a:prstGeom>
        </p:spPr>
        <p:txBody>
          <a:bodyPr anchor="t" rtlCol="false" tIns="0" lIns="0" bIns="0" rIns="0">
            <a:spAutoFit/>
          </a:bodyPr>
          <a:lstStyle/>
          <a:p>
            <a:pPr algn="ctr" marL="0" indent="0" lvl="0">
              <a:lnSpc>
                <a:spcPts val="12287"/>
              </a:lnSpc>
            </a:pPr>
            <a:r>
              <a:rPr lang="en-US" b="true" sz="12934" spc="-866">
                <a:solidFill>
                  <a:srgbClr val="000000"/>
                </a:solidFill>
                <a:latin typeface="Montserrat Bold"/>
                <a:ea typeface="Montserrat Bold"/>
                <a:cs typeface="Montserrat Bold"/>
                <a:sym typeface="Montserrat Bold"/>
              </a:rPr>
              <a:t>Conclusion &amp;</a:t>
            </a:r>
          </a:p>
          <a:p>
            <a:pPr algn="ctr" marL="0" indent="0" lvl="0">
              <a:lnSpc>
                <a:spcPts val="12287"/>
              </a:lnSpc>
            </a:pPr>
            <a:r>
              <a:rPr lang="en-US" b="true" sz="12934" spc="-866">
                <a:solidFill>
                  <a:srgbClr val="000000"/>
                </a:solidFill>
                <a:latin typeface="Montserrat Bold"/>
                <a:ea typeface="Montserrat Bold"/>
                <a:cs typeface="Montserrat Bold"/>
                <a:sym typeface="Montserrat Bold"/>
              </a:rPr>
              <a:t>Key Takeaways</a:t>
            </a:r>
          </a:p>
        </p:txBody>
      </p:sp>
      <p:sp>
        <p:nvSpPr>
          <p:cNvPr name="TextBox 30" id="30"/>
          <p:cNvSpPr txBox="true"/>
          <p:nvPr/>
        </p:nvSpPr>
        <p:spPr>
          <a:xfrm rot="0">
            <a:off x="1126643" y="6844450"/>
            <a:ext cx="5470108" cy="917089"/>
          </a:xfrm>
          <a:prstGeom prst="rect">
            <a:avLst/>
          </a:prstGeom>
        </p:spPr>
        <p:txBody>
          <a:bodyPr anchor="t" rtlCol="false" tIns="0" lIns="0" bIns="0" rIns="0">
            <a:spAutoFit/>
          </a:bodyPr>
          <a:lstStyle/>
          <a:p>
            <a:pPr algn="just" marL="0" indent="0" lvl="0">
              <a:lnSpc>
                <a:spcPts val="2427"/>
              </a:lnSpc>
            </a:pPr>
            <a:r>
              <a:rPr lang="en-US" sz="1852" spc="-66">
                <a:solidFill>
                  <a:srgbClr val="000000"/>
                </a:solidFill>
                <a:latin typeface="Montserrat"/>
                <a:ea typeface="Montserrat"/>
                <a:cs typeface="Montserrat"/>
                <a:sym typeface="Montserrat"/>
              </a:rPr>
              <a:t>AR and VR are revolutionizing tourism by creating immersive, accessible, and personalized travel experiences that transcend physical boundaries.</a:t>
            </a:r>
          </a:p>
        </p:txBody>
      </p:sp>
      <p:sp>
        <p:nvSpPr>
          <p:cNvPr name="TextBox 31" id="31"/>
          <p:cNvSpPr txBox="true"/>
          <p:nvPr/>
        </p:nvSpPr>
        <p:spPr>
          <a:xfrm rot="0">
            <a:off x="11696000" y="6653950"/>
            <a:ext cx="5470108" cy="1221889"/>
          </a:xfrm>
          <a:prstGeom prst="rect">
            <a:avLst/>
          </a:prstGeom>
        </p:spPr>
        <p:txBody>
          <a:bodyPr anchor="t" rtlCol="false" tIns="0" lIns="0" bIns="0" rIns="0">
            <a:spAutoFit/>
          </a:bodyPr>
          <a:lstStyle/>
          <a:p>
            <a:pPr algn="just" marL="0" indent="0" lvl="0">
              <a:lnSpc>
                <a:spcPts val="2427"/>
              </a:lnSpc>
            </a:pPr>
            <a:r>
              <a:rPr lang="en-US" sz="1852" spc="-66">
                <a:solidFill>
                  <a:srgbClr val="000000"/>
                </a:solidFill>
                <a:latin typeface="Montserrat"/>
                <a:ea typeface="Montserrat"/>
                <a:cs typeface="Montserrat"/>
                <a:sym typeface="Montserrat"/>
              </a:rPr>
              <a:t>From virtual tours and smart museums to AR navigation and AI-driven hospitality, these technologies are shaping the future of how we explore the world.</a:t>
            </a:r>
          </a:p>
        </p:txBody>
      </p:sp>
    </p:spTree>
  </p:cSld>
  <p:clrMapOvr>
    <a:masterClrMapping/>
  </p:clrMapOvr>
  <p:transition spd="fast">
    <p:cover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sp>
        <p:nvSpPr>
          <p:cNvPr name="Freeform 3" id="3"/>
          <p:cNvSpPr/>
          <p:nvPr/>
        </p:nvSpPr>
        <p:spPr>
          <a:xfrm flipH="false" flipV="false" rot="0">
            <a:off x="-598328" y="-380846"/>
            <a:ext cx="10902395" cy="10902395"/>
          </a:xfrm>
          <a:custGeom>
            <a:avLst/>
            <a:gdLst/>
            <a:ahLst/>
            <a:cxnLst/>
            <a:rect r="r" b="b" t="t" l="l"/>
            <a:pathLst>
              <a:path h="10902395" w="10902395">
                <a:moveTo>
                  <a:pt x="0" y="0"/>
                </a:moveTo>
                <a:lnTo>
                  <a:pt x="10902394" y="0"/>
                </a:lnTo>
                <a:lnTo>
                  <a:pt x="10902394" y="10902394"/>
                </a:lnTo>
                <a:lnTo>
                  <a:pt x="0" y="10902394"/>
                </a:lnTo>
                <a:lnTo>
                  <a:pt x="0" y="0"/>
                </a:lnTo>
                <a:close/>
              </a:path>
            </a:pathLst>
          </a:custGeom>
          <a:blipFill>
            <a:blip r:embed="rId4">
              <a:alphaModFix amt="70000"/>
            </a:blip>
            <a:stretch>
              <a:fillRect l="0" t="0" r="0" b="0"/>
            </a:stretch>
          </a:blipFill>
        </p:spPr>
      </p:sp>
      <p:grpSp>
        <p:nvGrpSpPr>
          <p:cNvPr name="Group 4" id="4"/>
          <p:cNvGrpSpPr/>
          <p:nvPr/>
        </p:nvGrpSpPr>
        <p:grpSpPr>
          <a:xfrm rot="0">
            <a:off x="795761" y="675765"/>
            <a:ext cx="147655" cy="627698"/>
            <a:chOff x="0" y="0"/>
            <a:chExt cx="38889" cy="165320"/>
          </a:xfrm>
        </p:grpSpPr>
        <p:sp>
          <p:nvSpPr>
            <p:cNvPr name="Freeform 5" id="5"/>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6" id="6"/>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7" id="7"/>
          <p:cNvGrpSpPr/>
          <p:nvPr/>
        </p:nvGrpSpPr>
        <p:grpSpPr>
          <a:xfrm rot="0">
            <a:off x="5599081" y="558296"/>
            <a:ext cx="9097149" cy="815308"/>
            <a:chOff x="0" y="0"/>
            <a:chExt cx="2395957" cy="214731"/>
          </a:xfrm>
        </p:grpSpPr>
        <p:sp>
          <p:nvSpPr>
            <p:cNvPr name="Freeform 8" id="8"/>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9" id="9"/>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10" id="10"/>
          <p:cNvSpPr txBox="true"/>
          <p:nvPr/>
        </p:nvSpPr>
        <p:spPr>
          <a:xfrm rot="0">
            <a:off x="1126643" y="686751"/>
            <a:ext cx="3710438" cy="404975"/>
          </a:xfrm>
          <a:prstGeom prst="rect">
            <a:avLst/>
          </a:prstGeom>
        </p:spPr>
        <p:txBody>
          <a:bodyPr anchor="t" rtlCol="false" tIns="0" lIns="0" bIns="0" rIns="0">
            <a:spAutoFit/>
          </a:bodyPr>
          <a:lstStyle/>
          <a:p>
            <a:pPr algn="l" marL="0" indent="0" lvl="0">
              <a:lnSpc>
                <a:spcPts val="1509"/>
              </a:lnSpc>
            </a:pPr>
            <a:r>
              <a:rPr lang="en-US" b="true" sz="1539" spc="41">
                <a:solidFill>
                  <a:srgbClr val="000000"/>
                </a:solidFill>
                <a:latin typeface="Montserrat Bold"/>
                <a:ea typeface="Montserrat Bold"/>
                <a:cs typeface="Montserrat Bold"/>
                <a:sym typeface="Montserrat Bold"/>
              </a:rPr>
              <a:t>AR/VR IN TOURISM</a:t>
            </a:r>
          </a:p>
          <a:p>
            <a:pPr algn="l" marL="0" indent="0" lvl="0">
              <a:lnSpc>
                <a:spcPts val="1509"/>
              </a:lnSpc>
            </a:pPr>
            <a:r>
              <a:rPr lang="en-US" b="true" sz="1539" spc="41">
                <a:solidFill>
                  <a:srgbClr val="000000"/>
                </a:solidFill>
                <a:latin typeface="Montserrat Bold"/>
                <a:ea typeface="Montserrat Bold"/>
                <a:cs typeface="Montserrat Bold"/>
                <a:sym typeface="Montserrat Bold"/>
              </a:rPr>
              <a:t>PRESENTATION</a:t>
            </a:r>
          </a:p>
        </p:txBody>
      </p:sp>
      <p:sp>
        <p:nvSpPr>
          <p:cNvPr name="TextBox 11" id="11"/>
          <p:cNvSpPr txBox="true"/>
          <p:nvPr/>
        </p:nvSpPr>
        <p:spPr>
          <a:xfrm rot="0">
            <a:off x="5718971" y="793875"/>
            <a:ext cx="1755559" cy="223163"/>
          </a:xfrm>
          <a:prstGeom prst="rect">
            <a:avLst/>
          </a:prstGeom>
        </p:spPr>
        <p:txBody>
          <a:bodyPr anchor="t" rtlCol="false" tIns="0" lIns="0" bIns="0" rIns="0">
            <a:spAutoFit/>
          </a:bodyPr>
          <a:lstStyle/>
          <a:p>
            <a:pPr algn="ctr" marL="0" indent="0" lvl="0">
              <a:lnSpc>
                <a:spcPts val="1874"/>
              </a:lnSpc>
              <a:spcBef>
                <a:spcPct val="0"/>
              </a:spcBef>
            </a:pPr>
            <a:r>
              <a:rPr lang="en-US" sz="1339" spc="155">
                <a:solidFill>
                  <a:srgbClr val="000000"/>
                </a:solidFill>
                <a:latin typeface="Montserrat"/>
                <a:ea typeface="Montserrat"/>
                <a:cs typeface="Montserrat"/>
                <a:sym typeface="Montserrat"/>
              </a:rPr>
              <a:t>HOME</a:t>
            </a:r>
          </a:p>
        </p:txBody>
      </p:sp>
      <p:sp>
        <p:nvSpPr>
          <p:cNvPr name="TextBox 12" id="12"/>
          <p:cNvSpPr txBox="true"/>
          <p:nvPr/>
        </p:nvSpPr>
        <p:spPr>
          <a:xfrm rot="0">
            <a:off x="7844217" y="793875"/>
            <a:ext cx="2013772" cy="223163"/>
          </a:xfrm>
          <a:prstGeom prst="rect">
            <a:avLst/>
          </a:prstGeom>
        </p:spPr>
        <p:txBody>
          <a:bodyPr anchor="t" rtlCol="false" tIns="0" lIns="0" bIns="0" rIns="0">
            <a:spAutoFit/>
          </a:bodyPr>
          <a:lstStyle/>
          <a:p>
            <a:pPr algn="ctr" marL="0" indent="0" lvl="0">
              <a:lnSpc>
                <a:spcPts val="1874"/>
              </a:lnSpc>
              <a:spcBef>
                <a:spcPct val="0"/>
              </a:spcBef>
            </a:pPr>
            <a:r>
              <a:rPr lang="en-US" sz="1339">
                <a:solidFill>
                  <a:srgbClr val="000000"/>
                </a:solidFill>
                <a:latin typeface="Montserrat"/>
                <a:ea typeface="Montserrat"/>
                <a:cs typeface="Montserrat"/>
                <a:sym typeface="Montserrat"/>
              </a:rPr>
              <a:t>ABOUT</a:t>
            </a:r>
          </a:p>
        </p:txBody>
      </p:sp>
      <p:sp>
        <p:nvSpPr>
          <p:cNvPr name="TextBox 13" id="13"/>
          <p:cNvSpPr txBox="true"/>
          <p:nvPr/>
        </p:nvSpPr>
        <p:spPr>
          <a:xfrm rot="0">
            <a:off x="10237201" y="793875"/>
            <a:ext cx="2024119" cy="223163"/>
          </a:xfrm>
          <a:prstGeom prst="rect">
            <a:avLst/>
          </a:prstGeom>
        </p:spPr>
        <p:txBody>
          <a:bodyPr anchor="t" rtlCol="false" tIns="0" lIns="0" bIns="0" rIns="0">
            <a:spAutoFit/>
          </a:bodyPr>
          <a:lstStyle/>
          <a:p>
            <a:pPr algn="ctr" marL="0" indent="0" lvl="0">
              <a:lnSpc>
                <a:spcPts val="1874"/>
              </a:lnSpc>
              <a:spcBef>
                <a:spcPct val="0"/>
              </a:spcBef>
            </a:pPr>
            <a:r>
              <a:rPr lang="en-US" b="true" sz="1339" spc="155">
                <a:solidFill>
                  <a:srgbClr val="000000"/>
                </a:solidFill>
                <a:latin typeface="Montserrat Bold"/>
                <a:ea typeface="Montserrat Bold"/>
                <a:cs typeface="Montserrat Bold"/>
                <a:sym typeface="Montserrat Bold"/>
              </a:rPr>
              <a:t>REFERENCES</a:t>
            </a:r>
          </a:p>
        </p:txBody>
      </p:sp>
      <p:sp>
        <p:nvSpPr>
          <p:cNvPr name="TextBox 14" id="14"/>
          <p:cNvSpPr txBox="true"/>
          <p:nvPr/>
        </p:nvSpPr>
        <p:spPr>
          <a:xfrm rot="0">
            <a:off x="12482593" y="793875"/>
            <a:ext cx="2349448" cy="223163"/>
          </a:xfrm>
          <a:prstGeom prst="rect">
            <a:avLst/>
          </a:prstGeom>
        </p:spPr>
        <p:txBody>
          <a:bodyPr anchor="t" rtlCol="false" tIns="0" lIns="0" bIns="0" rIns="0">
            <a:spAutoFit/>
          </a:bodyPr>
          <a:lstStyle/>
          <a:p>
            <a:pPr algn="ctr" marL="0" indent="0" lvl="0">
              <a:lnSpc>
                <a:spcPts val="1874"/>
              </a:lnSpc>
              <a:spcBef>
                <a:spcPct val="0"/>
              </a:spcBef>
            </a:pPr>
            <a:r>
              <a:rPr lang="en-US" sz="1339" spc="155">
                <a:solidFill>
                  <a:srgbClr val="000000"/>
                </a:solidFill>
                <a:latin typeface="Montserrat"/>
                <a:ea typeface="Montserrat"/>
                <a:cs typeface="Montserrat"/>
                <a:sym typeface="Montserrat"/>
              </a:rPr>
              <a:t>OTHERS</a:t>
            </a:r>
          </a:p>
        </p:txBody>
      </p:sp>
      <p:sp>
        <p:nvSpPr>
          <p:cNvPr name="Freeform 15" id="15"/>
          <p:cNvSpPr/>
          <p:nvPr/>
        </p:nvSpPr>
        <p:spPr>
          <a:xfrm flipH="false" flipV="false" rot="0">
            <a:off x="10597180" y="3623966"/>
            <a:ext cx="5178418" cy="5178418"/>
          </a:xfrm>
          <a:custGeom>
            <a:avLst/>
            <a:gdLst/>
            <a:ahLst/>
            <a:cxnLst/>
            <a:rect r="r" b="b" t="t" l="l"/>
            <a:pathLst>
              <a:path h="5178418" w="5178418">
                <a:moveTo>
                  <a:pt x="0" y="0"/>
                </a:moveTo>
                <a:lnTo>
                  <a:pt x="5178418" y="0"/>
                </a:lnTo>
                <a:lnTo>
                  <a:pt x="5178418" y="5178418"/>
                </a:lnTo>
                <a:lnTo>
                  <a:pt x="0" y="5178418"/>
                </a:lnTo>
                <a:lnTo>
                  <a:pt x="0" y="0"/>
                </a:lnTo>
                <a:close/>
              </a:path>
            </a:pathLst>
          </a:custGeom>
          <a:blipFill>
            <a:blip r:embed="rId5">
              <a:alphaModFix amt="70000"/>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9304813" y="2150633"/>
            <a:ext cx="7654851" cy="1740612"/>
          </a:xfrm>
          <a:prstGeom prst="rect">
            <a:avLst/>
          </a:prstGeom>
        </p:spPr>
        <p:txBody>
          <a:bodyPr anchor="t" rtlCol="false" tIns="0" lIns="0" bIns="0" rIns="0">
            <a:spAutoFit/>
          </a:bodyPr>
          <a:lstStyle/>
          <a:p>
            <a:pPr algn="just" marL="0" indent="0" lvl="0">
              <a:lnSpc>
                <a:spcPts val="2017"/>
              </a:lnSpc>
            </a:pPr>
            <a:r>
              <a:rPr lang="en-US" sz="1539" spc="-55">
                <a:solidFill>
                  <a:srgbClr val="000000"/>
                </a:solidFill>
                <a:latin typeface="Montserrat"/>
                <a:ea typeface="Montserrat"/>
                <a:cs typeface="Montserrat"/>
                <a:sym typeface="Montserrat"/>
              </a:rPr>
              <a:t>[1] Guttentag, D. (2010). Virtual reality: Applications and implications for tourism. Tourism Management, 31(5), 637-651.</a:t>
            </a:r>
          </a:p>
          <a:p>
            <a:pPr algn="just" marL="0" indent="0" lvl="0">
              <a:lnSpc>
                <a:spcPts val="2017"/>
              </a:lnSpc>
            </a:pPr>
            <a:r>
              <a:rPr lang="en-US" sz="1539" spc="-55">
                <a:solidFill>
                  <a:srgbClr val="000000"/>
                </a:solidFill>
                <a:latin typeface="Montserrat"/>
                <a:ea typeface="Montserrat"/>
                <a:cs typeface="Montserrat"/>
                <a:sym typeface="Montserrat"/>
              </a:rPr>
              <a:t>[2] Yung, R., &amp; Khoo-Lattimore, C. (2019). New realities: a systematic literature review on virtual reality and augmented reality in tourism research. Current Issues in Tourism, 22(17), 2056-2081.</a:t>
            </a:r>
          </a:p>
          <a:p>
            <a:pPr algn="just" marL="0" indent="0" lvl="0">
              <a:lnSpc>
                <a:spcPts val="2017"/>
              </a:lnSpc>
            </a:pPr>
            <a:r>
              <a:rPr lang="en-US" sz="1539" spc="-55">
                <a:solidFill>
                  <a:srgbClr val="000000"/>
                </a:solidFill>
                <a:latin typeface="Montserrat"/>
                <a:ea typeface="Montserrat"/>
                <a:cs typeface="Montserrat"/>
                <a:sym typeface="Montserrat"/>
              </a:rPr>
              <a:t>[3] tom Dieck, M. C., &amp; Jung, T. (2018). A theoretical model of mobile augmented reality acceptance in urban heritage tourism. Current Issues in Tourism, 21(2), 154-174.</a:t>
            </a:r>
          </a:p>
        </p:txBody>
      </p:sp>
      <p:grpSp>
        <p:nvGrpSpPr>
          <p:cNvPr name="Group 17" id="17"/>
          <p:cNvGrpSpPr/>
          <p:nvPr/>
        </p:nvGrpSpPr>
        <p:grpSpPr>
          <a:xfrm rot="0">
            <a:off x="9266713" y="4445074"/>
            <a:ext cx="2437000" cy="787252"/>
            <a:chOff x="0" y="0"/>
            <a:chExt cx="641844" cy="207342"/>
          </a:xfrm>
        </p:grpSpPr>
        <p:sp>
          <p:nvSpPr>
            <p:cNvPr name="Freeform 18" id="18"/>
            <p:cNvSpPr/>
            <p:nvPr/>
          </p:nvSpPr>
          <p:spPr>
            <a:xfrm flipH="false" flipV="false" rot="0">
              <a:off x="0" y="0"/>
              <a:ext cx="641844" cy="207342"/>
            </a:xfrm>
            <a:custGeom>
              <a:avLst/>
              <a:gdLst/>
              <a:ahLst/>
              <a:cxnLst/>
              <a:rect r="r" b="b" t="t" l="l"/>
              <a:pathLst>
                <a:path h="207342" w="641844">
                  <a:moveTo>
                    <a:pt x="95305" y="0"/>
                  </a:moveTo>
                  <a:lnTo>
                    <a:pt x="546539" y="0"/>
                  </a:lnTo>
                  <a:cubicBezTo>
                    <a:pt x="571815" y="0"/>
                    <a:pt x="596056" y="10041"/>
                    <a:pt x="613929" y="27914"/>
                  </a:cubicBezTo>
                  <a:cubicBezTo>
                    <a:pt x="631803" y="45787"/>
                    <a:pt x="641844" y="70028"/>
                    <a:pt x="641844" y="95305"/>
                  </a:cubicBezTo>
                  <a:lnTo>
                    <a:pt x="641844" y="112037"/>
                  </a:lnTo>
                  <a:cubicBezTo>
                    <a:pt x="641844" y="164673"/>
                    <a:pt x="599174" y="207342"/>
                    <a:pt x="546539" y="207342"/>
                  </a:cubicBezTo>
                  <a:lnTo>
                    <a:pt x="95305" y="207342"/>
                  </a:lnTo>
                  <a:cubicBezTo>
                    <a:pt x="42669" y="207342"/>
                    <a:pt x="0" y="164673"/>
                    <a:pt x="0" y="112037"/>
                  </a:cubicBezTo>
                  <a:lnTo>
                    <a:pt x="0" y="95305"/>
                  </a:lnTo>
                  <a:cubicBezTo>
                    <a:pt x="0" y="42669"/>
                    <a:pt x="42669" y="0"/>
                    <a:pt x="95305" y="0"/>
                  </a:cubicBezTo>
                  <a:close/>
                </a:path>
              </a:pathLst>
            </a:custGeom>
            <a:solidFill>
              <a:srgbClr val="B4E100"/>
            </a:solidFill>
            <a:ln cap="rnd">
              <a:noFill/>
              <a:prstDash val="solid"/>
              <a:round/>
            </a:ln>
          </p:spPr>
        </p:sp>
        <p:sp>
          <p:nvSpPr>
            <p:cNvPr name="TextBox 19" id="19"/>
            <p:cNvSpPr txBox="true"/>
            <p:nvPr/>
          </p:nvSpPr>
          <p:spPr>
            <a:xfrm>
              <a:off x="0" y="-38100"/>
              <a:ext cx="641844" cy="245442"/>
            </a:xfrm>
            <a:prstGeom prst="rect">
              <a:avLst/>
            </a:prstGeom>
          </p:spPr>
          <p:txBody>
            <a:bodyPr anchor="ctr" rtlCol="false" tIns="50800" lIns="50800" bIns="50800" rIns="50800"/>
            <a:lstStyle/>
            <a:p>
              <a:pPr algn="ctr" marL="0" indent="0" lvl="0">
                <a:lnSpc>
                  <a:spcPts val="2155"/>
                </a:lnSpc>
              </a:pPr>
              <a:r>
                <a:rPr lang="en-US" b="true" sz="1539">
                  <a:solidFill>
                    <a:srgbClr val="000000"/>
                  </a:solidFill>
                  <a:latin typeface="Montserrat Bold"/>
                  <a:ea typeface="Montserrat Bold"/>
                  <a:cs typeface="Montserrat Bold"/>
                  <a:sym typeface="Montserrat Bold"/>
                </a:rPr>
                <a:t>THANK YOU</a:t>
              </a:r>
            </a:p>
          </p:txBody>
        </p:sp>
      </p:grpSp>
      <p:sp>
        <p:nvSpPr>
          <p:cNvPr name="TextBox 20" id="20"/>
          <p:cNvSpPr txBox="true"/>
          <p:nvPr/>
        </p:nvSpPr>
        <p:spPr>
          <a:xfrm rot="0">
            <a:off x="1028700" y="5756201"/>
            <a:ext cx="15930963" cy="2363885"/>
          </a:xfrm>
          <a:prstGeom prst="rect">
            <a:avLst/>
          </a:prstGeom>
        </p:spPr>
        <p:txBody>
          <a:bodyPr anchor="t" rtlCol="false" tIns="0" lIns="0" bIns="0" rIns="0">
            <a:spAutoFit/>
          </a:bodyPr>
          <a:lstStyle/>
          <a:p>
            <a:pPr algn="just" marL="0" indent="0" lvl="0">
              <a:lnSpc>
                <a:spcPts val="9186"/>
              </a:lnSpc>
            </a:pPr>
            <a:r>
              <a:rPr lang="en-US" b="true" sz="8666" spc="-580">
                <a:solidFill>
                  <a:srgbClr val="000000"/>
                </a:solidFill>
                <a:latin typeface="Montserrat Bold"/>
                <a:ea typeface="Montserrat Bold"/>
                <a:cs typeface="Montserrat Bold"/>
                <a:sym typeface="Montserrat Bold"/>
              </a:rPr>
              <a:t>References &amp;</a:t>
            </a:r>
          </a:p>
          <a:p>
            <a:pPr algn="just" marL="0" indent="0" lvl="0">
              <a:lnSpc>
                <a:spcPts val="9186"/>
              </a:lnSpc>
            </a:pPr>
            <a:r>
              <a:rPr lang="en-US" b="true" sz="8666" spc="-580">
                <a:solidFill>
                  <a:srgbClr val="000000"/>
                </a:solidFill>
                <a:latin typeface="Montserrat Bold"/>
                <a:ea typeface="Montserrat Bold"/>
                <a:cs typeface="Montserrat Bold"/>
                <a:sym typeface="Montserrat Bold"/>
              </a:rPr>
              <a:t>Further Reading</a:t>
            </a:r>
          </a:p>
        </p:txBody>
      </p:sp>
      <p:grpSp>
        <p:nvGrpSpPr>
          <p:cNvPr name="Group 21" id="21"/>
          <p:cNvGrpSpPr/>
          <p:nvPr/>
        </p:nvGrpSpPr>
        <p:grpSpPr>
          <a:xfrm rot="5400000">
            <a:off x="15443591" y="7267262"/>
            <a:ext cx="664014" cy="2406231"/>
            <a:chOff x="0" y="0"/>
            <a:chExt cx="233328" cy="845528"/>
          </a:xfrm>
        </p:grpSpPr>
        <p:sp>
          <p:nvSpPr>
            <p:cNvPr name="Freeform 22" id="22"/>
            <p:cNvSpPr/>
            <p:nvPr/>
          </p:nvSpPr>
          <p:spPr>
            <a:xfrm flipH="false" flipV="false" rot="0">
              <a:off x="0" y="0"/>
              <a:ext cx="233328" cy="845528"/>
            </a:xfrm>
            <a:custGeom>
              <a:avLst/>
              <a:gdLst/>
              <a:ahLst/>
              <a:cxnLst/>
              <a:rect r="r" b="b" t="t" l="l"/>
              <a:pathLst>
                <a:path h="845528" w="233328">
                  <a:moveTo>
                    <a:pt x="116664" y="0"/>
                  </a:moveTo>
                  <a:lnTo>
                    <a:pt x="116664" y="0"/>
                  </a:lnTo>
                  <a:cubicBezTo>
                    <a:pt x="147605" y="0"/>
                    <a:pt x="177279" y="12291"/>
                    <a:pt x="199158" y="34170"/>
                  </a:cubicBezTo>
                  <a:cubicBezTo>
                    <a:pt x="221037" y="56049"/>
                    <a:pt x="233328" y="85723"/>
                    <a:pt x="233328" y="116664"/>
                  </a:cubicBezTo>
                  <a:lnTo>
                    <a:pt x="233328" y="728863"/>
                  </a:lnTo>
                  <a:cubicBezTo>
                    <a:pt x="233328" y="759805"/>
                    <a:pt x="221037" y="789479"/>
                    <a:pt x="199158" y="811357"/>
                  </a:cubicBezTo>
                  <a:cubicBezTo>
                    <a:pt x="177279" y="833236"/>
                    <a:pt x="147605" y="845528"/>
                    <a:pt x="116664" y="845528"/>
                  </a:cubicBezTo>
                  <a:lnTo>
                    <a:pt x="116664" y="845528"/>
                  </a:lnTo>
                  <a:cubicBezTo>
                    <a:pt x="85723" y="845528"/>
                    <a:pt x="56049" y="833236"/>
                    <a:pt x="34170" y="811357"/>
                  </a:cubicBezTo>
                  <a:cubicBezTo>
                    <a:pt x="12291" y="789479"/>
                    <a:pt x="0" y="759805"/>
                    <a:pt x="0" y="728863"/>
                  </a:cubicBezTo>
                  <a:lnTo>
                    <a:pt x="0" y="116664"/>
                  </a:lnTo>
                  <a:cubicBezTo>
                    <a:pt x="0" y="85723"/>
                    <a:pt x="12291" y="56049"/>
                    <a:pt x="34170" y="34170"/>
                  </a:cubicBezTo>
                  <a:cubicBezTo>
                    <a:pt x="56049" y="12291"/>
                    <a:pt x="85723" y="0"/>
                    <a:pt x="116664" y="0"/>
                  </a:cubicBezTo>
                  <a:close/>
                </a:path>
              </a:pathLst>
            </a:custGeom>
            <a:solidFill>
              <a:srgbClr val="000000"/>
            </a:solidFill>
            <a:ln cap="rnd">
              <a:noFill/>
              <a:prstDash val="solid"/>
              <a:round/>
            </a:ln>
          </p:spPr>
        </p:sp>
        <p:sp>
          <p:nvSpPr>
            <p:cNvPr name="TextBox 23" id="23"/>
            <p:cNvSpPr txBox="true"/>
            <p:nvPr/>
          </p:nvSpPr>
          <p:spPr>
            <a:xfrm>
              <a:off x="0" y="-38100"/>
              <a:ext cx="233328" cy="883628"/>
            </a:xfrm>
            <a:prstGeom prst="rect">
              <a:avLst/>
            </a:prstGeom>
          </p:spPr>
          <p:txBody>
            <a:bodyPr anchor="ctr" rtlCol="false" tIns="50800" lIns="50800" bIns="50800" rIns="50800"/>
            <a:lstStyle/>
            <a:p>
              <a:pPr algn="ctr" marL="0" indent="0" lvl="0">
                <a:lnSpc>
                  <a:spcPts val="2800"/>
                </a:lnSpc>
              </a:pPr>
            </a:p>
          </p:txBody>
        </p:sp>
      </p:grpSp>
      <p:grpSp>
        <p:nvGrpSpPr>
          <p:cNvPr name="Group 24" id="24"/>
          <p:cNvGrpSpPr/>
          <p:nvPr/>
        </p:nvGrpSpPr>
        <p:grpSpPr>
          <a:xfrm rot="5400000">
            <a:off x="13094419" y="7324321"/>
            <a:ext cx="664014" cy="2292112"/>
            <a:chOff x="0" y="0"/>
            <a:chExt cx="233328" cy="805427"/>
          </a:xfrm>
        </p:grpSpPr>
        <p:sp>
          <p:nvSpPr>
            <p:cNvPr name="Freeform 25" id="25"/>
            <p:cNvSpPr/>
            <p:nvPr/>
          </p:nvSpPr>
          <p:spPr>
            <a:xfrm flipH="false" flipV="false" rot="0">
              <a:off x="0" y="0"/>
              <a:ext cx="233328" cy="805427"/>
            </a:xfrm>
            <a:custGeom>
              <a:avLst/>
              <a:gdLst/>
              <a:ahLst/>
              <a:cxnLst/>
              <a:rect r="r" b="b" t="t" l="l"/>
              <a:pathLst>
                <a:path h="805427" w="233328">
                  <a:moveTo>
                    <a:pt x="116664" y="0"/>
                  </a:moveTo>
                  <a:lnTo>
                    <a:pt x="116664" y="0"/>
                  </a:lnTo>
                  <a:cubicBezTo>
                    <a:pt x="147605" y="0"/>
                    <a:pt x="177279" y="12291"/>
                    <a:pt x="199158" y="34170"/>
                  </a:cubicBezTo>
                  <a:cubicBezTo>
                    <a:pt x="221037" y="56049"/>
                    <a:pt x="233328" y="85723"/>
                    <a:pt x="233328" y="116664"/>
                  </a:cubicBezTo>
                  <a:lnTo>
                    <a:pt x="233328" y="688763"/>
                  </a:lnTo>
                  <a:cubicBezTo>
                    <a:pt x="233328" y="719704"/>
                    <a:pt x="221037" y="749378"/>
                    <a:pt x="199158" y="771257"/>
                  </a:cubicBezTo>
                  <a:cubicBezTo>
                    <a:pt x="177279" y="793136"/>
                    <a:pt x="147605" y="805427"/>
                    <a:pt x="116664" y="805427"/>
                  </a:cubicBezTo>
                  <a:lnTo>
                    <a:pt x="116664" y="805427"/>
                  </a:lnTo>
                  <a:cubicBezTo>
                    <a:pt x="85723" y="805427"/>
                    <a:pt x="56049" y="793136"/>
                    <a:pt x="34170" y="771257"/>
                  </a:cubicBezTo>
                  <a:cubicBezTo>
                    <a:pt x="12291" y="749378"/>
                    <a:pt x="0" y="719704"/>
                    <a:pt x="0" y="688763"/>
                  </a:cubicBezTo>
                  <a:lnTo>
                    <a:pt x="0" y="116664"/>
                  </a:lnTo>
                  <a:cubicBezTo>
                    <a:pt x="0" y="85723"/>
                    <a:pt x="12291" y="56049"/>
                    <a:pt x="34170" y="34170"/>
                  </a:cubicBezTo>
                  <a:cubicBezTo>
                    <a:pt x="56049" y="12291"/>
                    <a:pt x="85723" y="0"/>
                    <a:pt x="116664" y="0"/>
                  </a:cubicBezTo>
                  <a:close/>
                </a:path>
              </a:pathLst>
            </a:custGeom>
            <a:solidFill>
              <a:srgbClr val="B4E100"/>
            </a:solidFill>
            <a:ln cap="rnd">
              <a:noFill/>
              <a:prstDash val="solid"/>
              <a:round/>
            </a:ln>
          </p:spPr>
        </p:sp>
        <p:sp>
          <p:nvSpPr>
            <p:cNvPr name="TextBox 26" id="26"/>
            <p:cNvSpPr txBox="true"/>
            <p:nvPr/>
          </p:nvSpPr>
          <p:spPr>
            <a:xfrm>
              <a:off x="0" y="-38100"/>
              <a:ext cx="233328" cy="843527"/>
            </a:xfrm>
            <a:prstGeom prst="rect">
              <a:avLst/>
            </a:prstGeom>
          </p:spPr>
          <p:txBody>
            <a:bodyPr anchor="ctr" rtlCol="false" tIns="50800" lIns="50800" bIns="50800" rIns="50800"/>
            <a:lstStyle/>
            <a:p>
              <a:pPr algn="ctr" marL="0" indent="0" lvl="0">
                <a:lnSpc>
                  <a:spcPts val="2800"/>
                </a:lnSpc>
              </a:pPr>
            </a:p>
          </p:txBody>
        </p:sp>
      </p:grpSp>
      <p:grpSp>
        <p:nvGrpSpPr>
          <p:cNvPr name="Group 27" id="27"/>
          <p:cNvGrpSpPr/>
          <p:nvPr/>
        </p:nvGrpSpPr>
        <p:grpSpPr>
          <a:xfrm rot="0">
            <a:off x="1126643" y="2179208"/>
            <a:ext cx="904424" cy="904424"/>
            <a:chOff x="0" y="0"/>
            <a:chExt cx="673100" cy="673100"/>
          </a:xfrm>
        </p:grpSpPr>
        <p:sp>
          <p:nvSpPr>
            <p:cNvPr name="Freeform 28" id="2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000000"/>
            </a:solidFill>
          </p:spPr>
        </p:sp>
        <p:sp>
          <p:nvSpPr>
            <p:cNvPr name="TextBox 29" id="2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transition spd="fast">
    <p:cover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6959663" y="749101"/>
            <a:ext cx="599274" cy="472962"/>
          </a:xfrm>
          <a:custGeom>
            <a:avLst/>
            <a:gdLst/>
            <a:ahLst/>
            <a:cxnLst/>
            <a:rect r="r" b="b" t="t" l="l"/>
            <a:pathLst>
              <a:path h="472962" w="599274">
                <a:moveTo>
                  <a:pt x="0" y="0"/>
                </a:moveTo>
                <a:lnTo>
                  <a:pt x="599274" y="0"/>
                </a:lnTo>
                <a:lnTo>
                  <a:pt x="599274" y="472962"/>
                </a:lnTo>
                <a:lnTo>
                  <a:pt x="0" y="472962"/>
                </a:lnTo>
                <a:lnTo>
                  <a:pt x="0" y="0"/>
                </a:lnTo>
                <a:close/>
              </a:path>
            </a:pathLst>
          </a:custGeom>
          <a:blipFill>
            <a:blip r:embed="rId2">
              <a:extLst>
                <a:ext uri="{96DAC541-7B7A-43D3-8B79-37D633B846F1}">
                  <asvg:svgBlip xmlns:asvg="http://schemas.microsoft.com/office/drawing/2016/SVG/main" r:embed="rId3"/>
                </a:ext>
              </a:extLst>
            </a:blip>
            <a:stretch>
              <a:fillRect l="0" t="0" r="-264580" b="-73020"/>
            </a:stretch>
          </a:blipFill>
        </p:spPr>
      </p:sp>
      <p:grpSp>
        <p:nvGrpSpPr>
          <p:cNvPr name="Group 3" id="3"/>
          <p:cNvGrpSpPr/>
          <p:nvPr/>
        </p:nvGrpSpPr>
        <p:grpSpPr>
          <a:xfrm rot="0">
            <a:off x="795761" y="675765"/>
            <a:ext cx="147655" cy="627698"/>
            <a:chOff x="0" y="0"/>
            <a:chExt cx="38889" cy="165320"/>
          </a:xfrm>
        </p:grpSpPr>
        <p:sp>
          <p:nvSpPr>
            <p:cNvPr name="Freeform 4" id="4"/>
            <p:cNvSpPr/>
            <p:nvPr/>
          </p:nvSpPr>
          <p:spPr>
            <a:xfrm flipH="false" flipV="false" rot="0">
              <a:off x="0" y="0"/>
              <a:ext cx="38889" cy="165320"/>
            </a:xfrm>
            <a:custGeom>
              <a:avLst/>
              <a:gdLst/>
              <a:ahLst/>
              <a:cxnLst/>
              <a:rect r="r" b="b" t="t" l="l"/>
              <a:pathLst>
                <a:path h="165320" w="38889">
                  <a:moveTo>
                    <a:pt x="19444" y="0"/>
                  </a:moveTo>
                  <a:lnTo>
                    <a:pt x="19444" y="0"/>
                  </a:lnTo>
                  <a:cubicBezTo>
                    <a:pt x="24601" y="0"/>
                    <a:pt x="29547" y="2049"/>
                    <a:pt x="33194" y="5695"/>
                  </a:cubicBezTo>
                  <a:cubicBezTo>
                    <a:pt x="36840" y="9342"/>
                    <a:pt x="38889" y="14287"/>
                    <a:pt x="38889" y="19444"/>
                  </a:cubicBezTo>
                  <a:lnTo>
                    <a:pt x="38889" y="145875"/>
                  </a:lnTo>
                  <a:cubicBezTo>
                    <a:pt x="38889" y="156614"/>
                    <a:pt x="30183" y="165320"/>
                    <a:pt x="19444" y="165320"/>
                  </a:cubicBezTo>
                  <a:lnTo>
                    <a:pt x="19444" y="165320"/>
                  </a:lnTo>
                  <a:cubicBezTo>
                    <a:pt x="8706" y="165320"/>
                    <a:pt x="0" y="156614"/>
                    <a:pt x="0" y="145875"/>
                  </a:cubicBezTo>
                  <a:lnTo>
                    <a:pt x="0" y="19444"/>
                  </a:lnTo>
                  <a:cubicBezTo>
                    <a:pt x="0" y="8706"/>
                    <a:pt x="8706" y="0"/>
                    <a:pt x="19444" y="0"/>
                  </a:cubicBezTo>
                  <a:close/>
                </a:path>
              </a:pathLst>
            </a:custGeom>
            <a:solidFill>
              <a:srgbClr val="B4E100"/>
            </a:solidFill>
          </p:spPr>
        </p:sp>
        <p:sp>
          <p:nvSpPr>
            <p:cNvPr name="TextBox 5" id="5"/>
            <p:cNvSpPr txBox="true"/>
            <p:nvPr/>
          </p:nvSpPr>
          <p:spPr>
            <a:xfrm>
              <a:off x="0" y="-95250"/>
              <a:ext cx="38889" cy="260570"/>
            </a:xfrm>
            <a:prstGeom prst="rect">
              <a:avLst/>
            </a:prstGeom>
          </p:spPr>
          <p:txBody>
            <a:bodyPr anchor="ctr" rtlCol="false" tIns="50800" lIns="50800" bIns="50800" rIns="50800"/>
            <a:lstStyle/>
            <a:p>
              <a:pPr algn="ctr" marL="0" indent="0" lvl="0">
                <a:lnSpc>
                  <a:spcPts val="2940"/>
                </a:lnSpc>
              </a:pPr>
            </a:p>
          </p:txBody>
        </p:sp>
      </p:grpSp>
      <p:grpSp>
        <p:nvGrpSpPr>
          <p:cNvPr name="Group 6" id="6"/>
          <p:cNvGrpSpPr/>
          <p:nvPr/>
        </p:nvGrpSpPr>
        <p:grpSpPr>
          <a:xfrm rot="0">
            <a:off x="5599081" y="558296"/>
            <a:ext cx="9097149" cy="815308"/>
            <a:chOff x="0" y="0"/>
            <a:chExt cx="2395957" cy="214731"/>
          </a:xfrm>
        </p:grpSpPr>
        <p:sp>
          <p:nvSpPr>
            <p:cNvPr name="Freeform 7" id="7"/>
            <p:cNvSpPr/>
            <p:nvPr/>
          </p:nvSpPr>
          <p:spPr>
            <a:xfrm flipH="false" flipV="false" rot="0">
              <a:off x="0" y="0"/>
              <a:ext cx="2395957" cy="214731"/>
            </a:xfrm>
            <a:custGeom>
              <a:avLst/>
              <a:gdLst/>
              <a:ahLst/>
              <a:cxnLst/>
              <a:rect r="r" b="b" t="t" l="l"/>
              <a:pathLst>
                <a:path h="214731" w="2395957">
                  <a:moveTo>
                    <a:pt x="25531" y="0"/>
                  </a:moveTo>
                  <a:lnTo>
                    <a:pt x="2370426" y="0"/>
                  </a:lnTo>
                  <a:cubicBezTo>
                    <a:pt x="2384526" y="0"/>
                    <a:pt x="2395957" y="11431"/>
                    <a:pt x="2395957" y="25531"/>
                  </a:cubicBezTo>
                  <a:lnTo>
                    <a:pt x="2395957" y="189200"/>
                  </a:lnTo>
                  <a:cubicBezTo>
                    <a:pt x="2395957" y="203301"/>
                    <a:pt x="2384526" y="214731"/>
                    <a:pt x="2370426" y="214731"/>
                  </a:cubicBezTo>
                  <a:lnTo>
                    <a:pt x="25531" y="214731"/>
                  </a:lnTo>
                  <a:cubicBezTo>
                    <a:pt x="11431" y="214731"/>
                    <a:pt x="0" y="203301"/>
                    <a:pt x="0" y="189200"/>
                  </a:cubicBezTo>
                  <a:lnTo>
                    <a:pt x="0" y="25531"/>
                  </a:lnTo>
                  <a:cubicBezTo>
                    <a:pt x="0" y="11431"/>
                    <a:pt x="11431" y="0"/>
                    <a:pt x="25531" y="0"/>
                  </a:cubicBezTo>
                  <a:close/>
                </a:path>
              </a:pathLst>
            </a:custGeom>
            <a:solidFill>
              <a:srgbClr val="D9D9D9"/>
            </a:solidFill>
            <a:ln cap="rnd">
              <a:noFill/>
              <a:prstDash val="solid"/>
              <a:round/>
            </a:ln>
          </p:spPr>
        </p:sp>
        <p:sp>
          <p:nvSpPr>
            <p:cNvPr name="TextBox 8" id="8"/>
            <p:cNvSpPr txBox="true"/>
            <p:nvPr/>
          </p:nvSpPr>
          <p:spPr>
            <a:xfrm>
              <a:off x="0" y="-38100"/>
              <a:ext cx="2395957" cy="252831"/>
            </a:xfrm>
            <a:prstGeom prst="rect">
              <a:avLst/>
            </a:prstGeom>
          </p:spPr>
          <p:txBody>
            <a:bodyPr anchor="ctr" rtlCol="false" tIns="50800" lIns="50800" bIns="50800" rIns="50800"/>
            <a:lstStyle/>
            <a:p>
              <a:pPr algn="ctr" marL="0" indent="0" lvl="0">
                <a:lnSpc>
                  <a:spcPts val="2800"/>
                </a:lnSpc>
              </a:pPr>
            </a:p>
          </p:txBody>
        </p:sp>
      </p:grpSp>
      <p:sp>
        <p:nvSpPr>
          <p:cNvPr name="TextBox 9" id="9"/>
          <p:cNvSpPr txBox="true"/>
          <p:nvPr/>
        </p:nvSpPr>
        <p:spPr>
          <a:xfrm rot="0">
            <a:off x="1126643" y="715326"/>
            <a:ext cx="3710438" cy="588092"/>
          </a:xfrm>
          <a:prstGeom prst="rect">
            <a:avLst/>
          </a:prstGeom>
        </p:spPr>
        <p:txBody>
          <a:bodyPr anchor="t" rtlCol="false" tIns="0" lIns="0" bIns="0" rIns="0">
            <a:spAutoFit/>
          </a:bodyPr>
          <a:lstStyle/>
          <a:p>
            <a:pPr algn="l" marL="0" indent="0" lvl="0">
              <a:lnSpc>
                <a:spcPts val="2252"/>
              </a:lnSpc>
            </a:pPr>
            <a:r>
              <a:rPr lang="en-US" b="true" sz="2298" spc="62">
                <a:solidFill>
                  <a:srgbClr val="000000"/>
                </a:solidFill>
                <a:latin typeface="Montserrat Bold"/>
                <a:ea typeface="Montserrat Bold"/>
                <a:cs typeface="Montserrat Bold"/>
                <a:sym typeface="Montserrat Bold"/>
              </a:rPr>
              <a:t>AR &amp; VR IN TOURISM</a:t>
            </a:r>
          </a:p>
          <a:p>
            <a:pPr algn="l" marL="0" indent="0" lvl="0">
              <a:lnSpc>
                <a:spcPts val="2252"/>
              </a:lnSpc>
            </a:pPr>
            <a:r>
              <a:rPr lang="en-US" b="true" sz="2298" spc="62">
                <a:solidFill>
                  <a:srgbClr val="000000"/>
                </a:solidFill>
                <a:latin typeface="Montserrat Bold"/>
                <a:ea typeface="Montserrat Bold"/>
                <a:cs typeface="Montserrat Bold"/>
                <a:sym typeface="Montserrat Bold"/>
              </a:rPr>
              <a:t>PRESENTATION</a:t>
            </a:r>
          </a:p>
        </p:txBody>
      </p:sp>
      <p:sp>
        <p:nvSpPr>
          <p:cNvPr name="TextBox 10" id="10"/>
          <p:cNvSpPr txBox="true"/>
          <p:nvPr/>
        </p:nvSpPr>
        <p:spPr>
          <a:xfrm rot="0">
            <a:off x="5718971" y="793875"/>
            <a:ext cx="175555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HOME</a:t>
            </a:r>
          </a:p>
        </p:txBody>
      </p:sp>
      <p:sp>
        <p:nvSpPr>
          <p:cNvPr name="TextBox 11" id="11"/>
          <p:cNvSpPr txBox="true"/>
          <p:nvPr/>
        </p:nvSpPr>
        <p:spPr>
          <a:xfrm rot="0">
            <a:off x="7844217" y="793875"/>
            <a:ext cx="2013772" cy="330236"/>
          </a:xfrm>
          <a:prstGeom prst="rect">
            <a:avLst/>
          </a:prstGeom>
        </p:spPr>
        <p:txBody>
          <a:bodyPr anchor="t" rtlCol="false" tIns="0" lIns="0" bIns="0" rIns="0">
            <a:spAutoFit/>
          </a:bodyPr>
          <a:lstStyle/>
          <a:p>
            <a:pPr algn="ctr" marL="0" indent="0" lvl="0">
              <a:lnSpc>
                <a:spcPts val="2798"/>
              </a:lnSpc>
              <a:spcBef>
                <a:spcPct val="0"/>
              </a:spcBef>
            </a:pPr>
            <a:r>
              <a:rPr lang="en-US" sz="1998">
                <a:solidFill>
                  <a:srgbClr val="000000"/>
                </a:solidFill>
                <a:latin typeface="Montserrat"/>
                <a:ea typeface="Montserrat"/>
                <a:cs typeface="Montserrat"/>
                <a:sym typeface="Montserrat"/>
              </a:rPr>
              <a:t>ABOUT</a:t>
            </a:r>
          </a:p>
        </p:txBody>
      </p:sp>
      <p:sp>
        <p:nvSpPr>
          <p:cNvPr name="TextBox 12" id="12"/>
          <p:cNvSpPr txBox="true"/>
          <p:nvPr/>
        </p:nvSpPr>
        <p:spPr>
          <a:xfrm rot="0">
            <a:off x="10237201" y="793875"/>
            <a:ext cx="2024119" cy="330236"/>
          </a:xfrm>
          <a:prstGeom prst="rect">
            <a:avLst/>
          </a:prstGeom>
        </p:spPr>
        <p:txBody>
          <a:bodyPr anchor="t" rtlCol="false" tIns="0" lIns="0" bIns="0" rIns="0">
            <a:spAutoFit/>
          </a:bodyPr>
          <a:lstStyle/>
          <a:p>
            <a:pPr algn="ctr" marL="0" indent="0" lvl="0">
              <a:lnSpc>
                <a:spcPts val="2798"/>
              </a:lnSpc>
              <a:spcBef>
                <a:spcPct val="0"/>
              </a:spcBef>
            </a:pPr>
            <a:r>
              <a:rPr lang="en-US" sz="1998" spc="231">
                <a:solidFill>
                  <a:srgbClr val="000000"/>
                </a:solidFill>
                <a:latin typeface="Montserrat"/>
                <a:ea typeface="Montserrat"/>
                <a:cs typeface="Montserrat"/>
                <a:sym typeface="Montserrat"/>
              </a:rPr>
              <a:t>CONTENT</a:t>
            </a:r>
          </a:p>
        </p:txBody>
      </p:sp>
      <p:sp>
        <p:nvSpPr>
          <p:cNvPr name="TextBox 13" id="13"/>
          <p:cNvSpPr txBox="true"/>
          <p:nvPr/>
        </p:nvSpPr>
        <p:spPr>
          <a:xfrm rot="0">
            <a:off x="12482593" y="793875"/>
            <a:ext cx="2349448" cy="330236"/>
          </a:xfrm>
          <a:prstGeom prst="rect">
            <a:avLst/>
          </a:prstGeom>
        </p:spPr>
        <p:txBody>
          <a:bodyPr anchor="t" rtlCol="false" tIns="0" lIns="0" bIns="0" rIns="0">
            <a:spAutoFit/>
          </a:bodyPr>
          <a:lstStyle/>
          <a:p>
            <a:pPr algn="ctr" marL="0" indent="0" lvl="0">
              <a:lnSpc>
                <a:spcPts val="2798"/>
              </a:lnSpc>
              <a:spcBef>
                <a:spcPct val="0"/>
              </a:spcBef>
            </a:pPr>
            <a:r>
              <a:rPr lang="en-US" b="true" sz="1998" spc="231">
                <a:solidFill>
                  <a:srgbClr val="000000"/>
                </a:solidFill>
                <a:latin typeface="Montserrat Bold"/>
                <a:ea typeface="Montserrat Bold"/>
                <a:cs typeface="Montserrat Bold"/>
                <a:sym typeface="Montserrat Bold"/>
              </a:rPr>
              <a:t>OTHERS</a:t>
            </a:r>
          </a:p>
        </p:txBody>
      </p:sp>
      <p:grpSp>
        <p:nvGrpSpPr>
          <p:cNvPr name="Group 14" id="14"/>
          <p:cNvGrpSpPr/>
          <p:nvPr/>
        </p:nvGrpSpPr>
        <p:grpSpPr>
          <a:xfrm rot="0">
            <a:off x="799326" y="8783971"/>
            <a:ext cx="16689348" cy="815308"/>
            <a:chOff x="0" y="0"/>
            <a:chExt cx="4395548" cy="214731"/>
          </a:xfrm>
        </p:grpSpPr>
        <p:sp>
          <p:nvSpPr>
            <p:cNvPr name="Freeform 15" id="15"/>
            <p:cNvSpPr/>
            <p:nvPr/>
          </p:nvSpPr>
          <p:spPr>
            <a:xfrm flipH="false" flipV="false" rot="0">
              <a:off x="0" y="0"/>
              <a:ext cx="4395548" cy="214731"/>
            </a:xfrm>
            <a:custGeom>
              <a:avLst/>
              <a:gdLst/>
              <a:ahLst/>
              <a:cxnLst/>
              <a:rect r="r" b="b" t="t" l="l"/>
              <a:pathLst>
                <a:path h="214731" w="4395548">
                  <a:moveTo>
                    <a:pt x="13917" y="0"/>
                  </a:moveTo>
                  <a:lnTo>
                    <a:pt x="4381632" y="0"/>
                  </a:lnTo>
                  <a:cubicBezTo>
                    <a:pt x="4389318" y="0"/>
                    <a:pt x="4395548" y="6231"/>
                    <a:pt x="4395548" y="13917"/>
                  </a:cubicBezTo>
                  <a:lnTo>
                    <a:pt x="4395548" y="200815"/>
                  </a:lnTo>
                  <a:cubicBezTo>
                    <a:pt x="4395548" y="204506"/>
                    <a:pt x="4394082" y="208045"/>
                    <a:pt x="4391472" y="210655"/>
                  </a:cubicBezTo>
                  <a:cubicBezTo>
                    <a:pt x="4388862" y="213265"/>
                    <a:pt x="4385323" y="214731"/>
                    <a:pt x="4381632" y="214731"/>
                  </a:cubicBezTo>
                  <a:lnTo>
                    <a:pt x="13917" y="214731"/>
                  </a:lnTo>
                  <a:cubicBezTo>
                    <a:pt x="10226" y="214731"/>
                    <a:pt x="6686" y="213265"/>
                    <a:pt x="4076" y="210655"/>
                  </a:cubicBezTo>
                  <a:cubicBezTo>
                    <a:pt x="1466" y="208045"/>
                    <a:pt x="0" y="204506"/>
                    <a:pt x="0" y="200815"/>
                  </a:cubicBezTo>
                  <a:lnTo>
                    <a:pt x="0" y="13917"/>
                  </a:lnTo>
                  <a:cubicBezTo>
                    <a:pt x="0" y="10226"/>
                    <a:pt x="1466" y="6686"/>
                    <a:pt x="4076" y="4076"/>
                  </a:cubicBezTo>
                  <a:cubicBezTo>
                    <a:pt x="6686" y="1466"/>
                    <a:pt x="10226" y="0"/>
                    <a:pt x="13917" y="0"/>
                  </a:cubicBezTo>
                  <a:close/>
                </a:path>
              </a:pathLst>
            </a:custGeom>
            <a:solidFill>
              <a:srgbClr val="000000"/>
            </a:solidFill>
            <a:ln cap="rnd">
              <a:noFill/>
              <a:prstDash val="solid"/>
              <a:round/>
            </a:ln>
          </p:spPr>
        </p:sp>
        <p:sp>
          <p:nvSpPr>
            <p:cNvPr name="TextBox 16" id="16"/>
            <p:cNvSpPr txBox="true"/>
            <p:nvPr/>
          </p:nvSpPr>
          <p:spPr>
            <a:xfrm>
              <a:off x="0" y="-38100"/>
              <a:ext cx="4395548" cy="252831"/>
            </a:xfrm>
            <a:prstGeom prst="rect">
              <a:avLst/>
            </a:prstGeom>
          </p:spPr>
          <p:txBody>
            <a:bodyPr anchor="ctr" rtlCol="false" tIns="50800" lIns="50800" bIns="50800" rIns="50800"/>
            <a:lstStyle/>
            <a:p>
              <a:pPr algn="ctr" marL="0" indent="0" lvl="0">
                <a:lnSpc>
                  <a:spcPts val="2800"/>
                </a:lnSpc>
              </a:pPr>
            </a:p>
          </p:txBody>
        </p:sp>
      </p:grpSp>
      <p:grpSp>
        <p:nvGrpSpPr>
          <p:cNvPr name="Group 17" id="17"/>
          <p:cNvGrpSpPr/>
          <p:nvPr/>
        </p:nvGrpSpPr>
        <p:grpSpPr>
          <a:xfrm rot="0">
            <a:off x="1028700" y="8960184"/>
            <a:ext cx="462882" cy="462882"/>
            <a:chOff x="0" y="0"/>
            <a:chExt cx="673100" cy="673100"/>
          </a:xfrm>
        </p:grpSpPr>
        <p:sp>
          <p:nvSpPr>
            <p:cNvPr name="Freeform 18" id="18"/>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19" id="19"/>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grpSp>
        <p:nvGrpSpPr>
          <p:cNvPr name="Group 20" id="20"/>
          <p:cNvGrpSpPr/>
          <p:nvPr/>
        </p:nvGrpSpPr>
        <p:grpSpPr>
          <a:xfrm rot="0">
            <a:off x="16796418" y="8960184"/>
            <a:ext cx="462882" cy="462882"/>
            <a:chOff x="0" y="0"/>
            <a:chExt cx="673100" cy="673100"/>
          </a:xfrm>
        </p:grpSpPr>
        <p:sp>
          <p:nvSpPr>
            <p:cNvPr name="Freeform 21" id="21"/>
            <p:cNvSpPr/>
            <p:nvPr/>
          </p:nvSpPr>
          <p:spPr>
            <a:xfrm flipH="false" flipV="false" rot="0">
              <a:off x="0" y="0"/>
              <a:ext cx="673100" cy="673100"/>
            </a:xfrm>
            <a:custGeom>
              <a:avLst/>
              <a:gdLst/>
              <a:ahLst/>
              <a:cxnLst/>
              <a:rect r="r" b="b" t="t" l="l"/>
              <a:pathLst>
                <a:path h="673100" w="673100">
                  <a:moveTo>
                    <a:pt x="530860" y="55880"/>
                  </a:moveTo>
                  <a:lnTo>
                    <a:pt x="471170" y="201930"/>
                  </a:lnTo>
                  <a:lnTo>
                    <a:pt x="617220" y="140970"/>
                  </a:lnTo>
                  <a:lnTo>
                    <a:pt x="673100" y="275590"/>
                  </a:lnTo>
                  <a:lnTo>
                    <a:pt x="527050" y="336550"/>
                  </a:lnTo>
                  <a:lnTo>
                    <a:pt x="673100" y="397510"/>
                  </a:lnTo>
                  <a:lnTo>
                    <a:pt x="617220" y="532130"/>
                  </a:lnTo>
                  <a:lnTo>
                    <a:pt x="471170" y="471170"/>
                  </a:lnTo>
                  <a:lnTo>
                    <a:pt x="530860" y="617220"/>
                  </a:lnTo>
                  <a:lnTo>
                    <a:pt x="396240" y="673100"/>
                  </a:lnTo>
                  <a:lnTo>
                    <a:pt x="336550" y="527050"/>
                  </a:lnTo>
                  <a:lnTo>
                    <a:pt x="275590" y="673100"/>
                  </a:lnTo>
                  <a:lnTo>
                    <a:pt x="140970" y="617220"/>
                  </a:lnTo>
                  <a:lnTo>
                    <a:pt x="201930" y="471170"/>
                  </a:lnTo>
                  <a:lnTo>
                    <a:pt x="55880" y="532130"/>
                  </a:lnTo>
                  <a:lnTo>
                    <a:pt x="0" y="397510"/>
                  </a:lnTo>
                  <a:lnTo>
                    <a:pt x="146050" y="336550"/>
                  </a:lnTo>
                  <a:lnTo>
                    <a:pt x="0" y="275590"/>
                  </a:lnTo>
                  <a:lnTo>
                    <a:pt x="55880" y="140970"/>
                  </a:lnTo>
                  <a:lnTo>
                    <a:pt x="201930" y="201930"/>
                  </a:lnTo>
                  <a:lnTo>
                    <a:pt x="140970" y="55880"/>
                  </a:lnTo>
                  <a:lnTo>
                    <a:pt x="275590" y="0"/>
                  </a:lnTo>
                  <a:lnTo>
                    <a:pt x="336550" y="146050"/>
                  </a:lnTo>
                  <a:lnTo>
                    <a:pt x="396240" y="0"/>
                  </a:lnTo>
                  <a:lnTo>
                    <a:pt x="530860" y="55880"/>
                  </a:lnTo>
                  <a:close/>
                </a:path>
              </a:pathLst>
            </a:custGeom>
            <a:solidFill>
              <a:srgbClr val="FFFFFF"/>
            </a:solidFill>
          </p:spPr>
        </p:sp>
        <p:sp>
          <p:nvSpPr>
            <p:cNvPr name="TextBox 22" id="22"/>
            <p:cNvSpPr txBox="true"/>
            <p:nvPr/>
          </p:nvSpPr>
          <p:spPr>
            <a:xfrm>
              <a:off x="165100" y="127000"/>
              <a:ext cx="342900" cy="381000"/>
            </a:xfrm>
            <a:prstGeom prst="rect">
              <a:avLst/>
            </a:prstGeom>
          </p:spPr>
          <p:txBody>
            <a:bodyPr anchor="ctr" rtlCol="false" tIns="50800" lIns="50800" bIns="50800" rIns="50800"/>
            <a:lstStyle/>
            <a:p>
              <a:pPr algn="ctr" marL="0" indent="0" lvl="0">
                <a:lnSpc>
                  <a:spcPts val="2800"/>
                </a:lnSpc>
              </a:pPr>
            </a:p>
          </p:txBody>
        </p:sp>
      </p:grpSp>
      <p:sp>
        <p:nvSpPr>
          <p:cNvPr name="TextBox 23" id="23"/>
          <p:cNvSpPr txBox="true"/>
          <p:nvPr/>
        </p:nvSpPr>
        <p:spPr>
          <a:xfrm rot="0">
            <a:off x="1664837" y="8939422"/>
            <a:ext cx="6382588" cy="481992"/>
          </a:xfrm>
          <a:prstGeom prst="rect">
            <a:avLst/>
          </a:prstGeom>
        </p:spPr>
        <p:txBody>
          <a:bodyPr anchor="t" rtlCol="false" tIns="0" lIns="0" bIns="0" rIns="0">
            <a:spAutoFit/>
          </a:bodyPr>
          <a:lstStyle/>
          <a:p>
            <a:pPr algn="l" marL="0" indent="0" lvl="0">
              <a:lnSpc>
                <a:spcPts val="3927"/>
              </a:lnSpc>
            </a:pPr>
            <a:r>
              <a:rPr lang="en-US" b="true" sz="2998" spc="-107">
                <a:solidFill>
                  <a:srgbClr val="FFFFFF"/>
                </a:solidFill>
                <a:latin typeface="Montserrat Bold"/>
                <a:ea typeface="Montserrat Bold"/>
                <a:cs typeface="Montserrat Bold"/>
                <a:sym typeface="Montserrat Bold"/>
              </a:rPr>
              <a:t>HELLO@REALLYGREATSITE.COM</a:t>
            </a:r>
          </a:p>
        </p:txBody>
      </p:sp>
      <p:sp>
        <p:nvSpPr>
          <p:cNvPr name="TextBox 24" id="24"/>
          <p:cNvSpPr txBox="true"/>
          <p:nvPr/>
        </p:nvSpPr>
        <p:spPr>
          <a:xfrm rot="0">
            <a:off x="10218151" y="8941103"/>
            <a:ext cx="6382588" cy="481992"/>
          </a:xfrm>
          <a:prstGeom prst="rect">
            <a:avLst/>
          </a:prstGeom>
        </p:spPr>
        <p:txBody>
          <a:bodyPr anchor="t" rtlCol="false" tIns="0" lIns="0" bIns="0" rIns="0">
            <a:spAutoFit/>
          </a:bodyPr>
          <a:lstStyle/>
          <a:p>
            <a:pPr algn="r" marL="0" indent="0" lvl="0">
              <a:lnSpc>
                <a:spcPts val="3927"/>
              </a:lnSpc>
            </a:pPr>
            <a:r>
              <a:rPr lang="en-US" b="true" sz="2998" spc="-107">
                <a:solidFill>
                  <a:srgbClr val="FFFFFF"/>
                </a:solidFill>
                <a:latin typeface="Montserrat Bold"/>
                <a:ea typeface="Montserrat Bold"/>
                <a:cs typeface="Montserrat Bold"/>
                <a:sym typeface="Montserrat Bold"/>
              </a:rPr>
              <a:t>WWW.REALLYGREATSITE.COM</a:t>
            </a:r>
          </a:p>
        </p:txBody>
      </p:sp>
      <p:sp>
        <p:nvSpPr>
          <p:cNvPr name="TextBox 25" id="25"/>
          <p:cNvSpPr txBox="true"/>
          <p:nvPr/>
        </p:nvSpPr>
        <p:spPr>
          <a:xfrm rot="0">
            <a:off x="8722998" y="8931609"/>
            <a:ext cx="1295127" cy="481992"/>
          </a:xfrm>
          <a:prstGeom prst="rect">
            <a:avLst/>
          </a:prstGeom>
        </p:spPr>
        <p:txBody>
          <a:bodyPr anchor="t" rtlCol="false" tIns="0" lIns="0" bIns="0" rIns="0">
            <a:spAutoFit/>
          </a:bodyPr>
          <a:lstStyle/>
          <a:p>
            <a:pPr algn="ctr" marL="0" indent="0" lvl="0">
              <a:lnSpc>
                <a:spcPts val="3927"/>
              </a:lnSpc>
            </a:pPr>
            <a:r>
              <a:rPr lang="en-US" b="true" sz="2998" spc="-107">
                <a:solidFill>
                  <a:srgbClr val="FFFFFF"/>
                </a:solidFill>
                <a:latin typeface="Montserrat Bold"/>
                <a:ea typeface="Montserrat Bold"/>
                <a:cs typeface="Montserrat Bold"/>
                <a:sym typeface="Montserrat Bold"/>
              </a:rPr>
              <a:t>-</a:t>
            </a:r>
          </a:p>
        </p:txBody>
      </p:sp>
      <p:sp>
        <p:nvSpPr>
          <p:cNvPr name="Freeform 26" id="26"/>
          <p:cNvSpPr/>
          <p:nvPr/>
        </p:nvSpPr>
        <p:spPr>
          <a:xfrm flipH="false" flipV="false" rot="0">
            <a:off x="5494321" y="1373603"/>
            <a:ext cx="7209466" cy="7209466"/>
          </a:xfrm>
          <a:custGeom>
            <a:avLst/>
            <a:gdLst/>
            <a:ahLst/>
            <a:cxnLst/>
            <a:rect r="r" b="b" t="t" l="l"/>
            <a:pathLst>
              <a:path h="7209466" w="7209466">
                <a:moveTo>
                  <a:pt x="0" y="0"/>
                </a:moveTo>
                <a:lnTo>
                  <a:pt x="7209466" y="0"/>
                </a:lnTo>
                <a:lnTo>
                  <a:pt x="7209466" y="7209466"/>
                </a:lnTo>
                <a:lnTo>
                  <a:pt x="0" y="7209466"/>
                </a:lnTo>
                <a:lnTo>
                  <a:pt x="0" y="0"/>
                </a:lnTo>
                <a:close/>
              </a:path>
            </a:pathLst>
          </a:custGeom>
          <a:blipFill>
            <a:blip r:embed="rId4">
              <a:alphaModFix amt="70000"/>
              <a:extLst>
                <a:ext uri="{96DAC541-7B7A-43D3-8B79-37D633B846F1}">
                  <asvg:svgBlip xmlns:asvg="http://schemas.microsoft.com/office/drawing/2016/SVG/main" r:embed="rId5"/>
                </a:ext>
              </a:extLst>
            </a:blip>
            <a:stretch>
              <a:fillRect l="0" t="0" r="0" b="0"/>
            </a:stretch>
          </a:blipFill>
        </p:spPr>
      </p:sp>
      <p:sp>
        <p:nvSpPr>
          <p:cNvPr name="TextBox 27" id="27"/>
          <p:cNvSpPr txBox="true"/>
          <p:nvPr/>
        </p:nvSpPr>
        <p:spPr>
          <a:xfrm rot="0">
            <a:off x="4149136" y="2700420"/>
            <a:ext cx="9989729" cy="5188574"/>
          </a:xfrm>
          <a:prstGeom prst="rect">
            <a:avLst/>
          </a:prstGeom>
        </p:spPr>
        <p:txBody>
          <a:bodyPr anchor="t" rtlCol="false" tIns="0" lIns="0" bIns="0" rIns="0">
            <a:spAutoFit/>
          </a:bodyPr>
          <a:lstStyle/>
          <a:p>
            <a:pPr algn="ctr" marL="0" indent="0" lvl="0">
              <a:lnSpc>
                <a:spcPts val="19538"/>
              </a:lnSpc>
            </a:pPr>
            <a:r>
              <a:rPr lang="en-US" b="true" sz="22202" spc="-1487">
                <a:solidFill>
                  <a:srgbClr val="000000"/>
                </a:solidFill>
                <a:latin typeface="Montserrat Bold"/>
                <a:ea typeface="Montserrat Bold"/>
                <a:cs typeface="Montserrat Bold"/>
                <a:sym typeface="Montserrat Bold"/>
              </a:rPr>
              <a:t>Thank You</a:t>
            </a:r>
          </a:p>
        </p:txBody>
      </p:sp>
      <p:grpSp>
        <p:nvGrpSpPr>
          <p:cNvPr name="Group 28" id="28"/>
          <p:cNvGrpSpPr/>
          <p:nvPr/>
        </p:nvGrpSpPr>
        <p:grpSpPr>
          <a:xfrm rot="0">
            <a:off x="16577264" y="2501893"/>
            <a:ext cx="678206" cy="1956906"/>
            <a:chOff x="0" y="0"/>
            <a:chExt cx="238315" cy="687639"/>
          </a:xfrm>
        </p:grpSpPr>
        <p:sp>
          <p:nvSpPr>
            <p:cNvPr name="Freeform 29" id="29"/>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30" id="30"/>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31" id="31"/>
          <p:cNvGrpSpPr/>
          <p:nvPr/>
        </p:nvGrpSpPr>
        <p:grpSpPr>
          <a:xfrm rot="0">
            <a:off x="16577264" y="4458799"/>
            <a:ext cx="678206" cy="1864097"/>
            <a:chOff x="0" y="0"/>
            <a:chExt cx="238315" cy="655027"/>
          </a:xfrm>
        </p:grpSpPr>
        <p:sp>
          <p:nvSpPr>
            <p:cNvPr name="Freeform 32" id="32"/>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33" id="33"/>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grpSp>
        <p:nvGrpSpPr>
          <p:cNvPr name="Group 34" id="34"/>
          <p:cNvGrpSpPr/>
          <p:nvPr/>
        </p:nvGrpSpPr>
        <p:grpSpPr>
          <a:xfrm rot="-10800000">
            <a:off x="1028700" y="5932722"/>
            <a:ext cx="678206" cy="1956906"/>
            <a:chOff x="0" y="0"/>
            <a:chExt cx="238315" cy="687639"/>
          </a:xfrm>
        </p:grpSpPr>
        <p:sp>
          <p:nvSpPr>
            <p:cNvPr name="Freeform 35" id="35"/>
            <p:cNvSpPr/>
            <p:nvPr/>
          </p:nvSpPr>
          <p:spPr>
            <a:xfrm flipH="false" flipV="false" rot="0">
              <a:off x="0" y="0"/>
              <a:ext cx="238315" cy="687639"/>
            </a:xfrm>
            <a:custGeom>
              <a:avLst/>
              <a:gdLst/>
              <a:ahLst/>
              <a:cxnLst/>
              <a:rect r="r" b="b" t="t" l="l"/>
              <a:pathLst>
                <a:path h="687639" w="238315">
                  <a:moveTo>
                    <a:pt x="119158" y="0"/>
                  </a:moveTo>
                  <a:lnTo>
                    <a:pt x="119158" y="0"/>
                  </a:lnTo>
                  <a:cubicBezTo>
                    <a:pt x="184967" y="0"/>
                    <a:pt x="238315" y="53349"/>
                    <a:pt x="238315" y="119158"/>
                  </a:cubicBezTo>
                  <a:lnTo>
                    <a:pt x="238315" y="568481"/>
                  </a:lnTo>
                  <a:cubicBezTo>
                    <a:pt x="238315" y="634290"/>
                    <a:pt x="184967" y="687639"/>
                    <a:pt x="119158" y="687639"/>
                  </a:cubicBezTo>
                  <a:lnTo>
                    <a:pt x="119158" y="687639"/>
                  </a:lnTo>
                  <a:cubicBezTo>
                    <a:pt x="53349" y="687639"/>
                    <a:pt x="0" y="634290"/>
                    <a:pt x="0" y="568481"/>
                  </a:cubicBezTo>
                  <a:lnTo>
                    <a:pt x="0" y="119158"/>
                  </a:lnTo>
                  <a:cubicBezTo>
                    <a:pt x="0" y="53349"/>
                    <a:pt x="53349" y="0"/>
                    <a:pt x="119158" y="0"/>
                  </a:cubicBezTo>
                  <a:close/>
                </a:path>
              </a:pathLst>
            </a:custGeom>
            <a:solidFill>
              <a:srgbClr val="000000"/>
            </a:solidFill>
            <a:ln cap="rnd">
              <a:noFill/>
              <a:prstDash val="solid"/>
              <a:round/>
            </a:ln>
          </p:spPr>
        </p:sp>
        <p:sp>
          <p:nvSpPr>
            <p:cNvPr name="TextBox 36" id="36"/>
            <p:cNvSpPr txBox="true"/>
            <p:nvPr/>
          </p:nvSpPr>
          <p:spPr>
            <a:xfrm>
              <a:off x="0" y="-38100"/>
              <a:ext cx="238315" cy="725739"/>
            </a:xfrm>
            <a:prstGeom prst="rect">
              <a:avLst/>
            </a:prstGeom>
          </p:spPr>
          <p:txBody>
            <a:bodyPr anchor="ctr" rtlCol="false" tIns="50800" lIns="50800" bIns="50800" rIns="50800"/>
            <a:lstStyle/>
            <a:p>
              <a:pPr algn="ctr" marL="0" indent="0" lvl="0">
                <a:lnSpc>
                  <a:spcPts val="2800"/>
                </a:lnSpc>
              </a:pPr>
            </a:p>
          </p:txBody>
        </p:sp>
      </p:grpSp>
      <p:grpSp>
        <p:nvGrpSpPr>
          <p:cNvPr name="Group 37" id="37"/>
          <p:cNvGrpSpPr/>
          <p:nvPr/>
        </p:nvGrpSpPr>
        <p:grpSpPr>
          <a:xfrm rot="-10800000">
            <a:off x="1028700" y="4068625"/>
            <a:ext cx="678206" cy="1864097"/>
            <a:chOff x="0" y="0"/>
            <a:chExt cx="238315" cy="655027"/>
          </a:xfrm>
        </p:grpSpPr>
        <p:sp>
          <p:nvSpPr>
            <p:cNvPr name="Freeform 38" id="38"/>
            <p:cNvSpPr/>
            <p:nvPr/>
          </p:nvSpPr>
          <p:spPr>
            <a:xfrm flipH="false" flipV="false" rot="0">
              <a:off x="0" y="0"/>
              <a:ext cx="238315" cy="655027"/>
            </a:xfrm>
            <a:custGeom>
              <a:avLst/>
              <a:gdLst/>
              <a:ahLst/>
              <a:cxnLst/>
              <a:rect r="r" b="b" t="t" l="l"/>
              <a:pathLst>
                <a:path h="655027" w="238315">
                  <a:moveTo>
                    <a:pt x="119158" y="0"/>
                  </a:moveTo>
                  <a:lnTo>
                    <a:pt x="119158" y="0"/>
                  </a:lnTo>
                  <a:cubicBezTo>
                    <a:pt x="184967" y="0"/>
                    <a:pt x="238315" y="53349"/>
                    <a:pt x="238315" y="119158"/>
                  </a:cubicBezTo>
                  <a:lnTo>
                    <a:pt x="238315" y="535869"/>
                  </a:lnTo>
                  <a:cubicBezTo>
                    <a:pt x="238315" y="601678"/>
                    <a:pt x="184967" y="655027"/>
                    <a:pt x="119158" y="655027"/>
                  </a:cubicBezTo>
                  <a:lnTo>
                    <a:pt x="119158" y="655027"/>
                  </a:lnTo>
                  <a:cubicBezTo>
                    <a:pt x="53349" y="655027"/>
                    <a:pt x="0" y="601678"/>
                    <a:pt x="0" y="535869"/>
                  </a:cubicBezTo>
                  <a:lnTo>
                    <a:pt x="0" y="119158"/>
                  </a:lnTo>
                  <a:cubicBezTo>
                    <a:pt x="0" y="53349"/>
                    <a:pt x="53349" y="0"/>
                    <a:pt x="119158" y="0"/>
                  </a:cubicBezTo>
                  <a:close/>
                </a:path>
              </a:pathLst>
            </a:custGeom>
            <a:solidFill>
              <a:srgbClr val="B4E100"/>
            </a:solidFill>
            <a:ln cap="rnd">
              <a:noFill/>
              <a:prstDash val="solid"/>
              <a:round/>
            </a:ln>
          </p:spPr>
        </p:sp>
        <p:sp>
          <p:nvSpPr>
            <p:cNvPr name="TextBox 39" id="39"/>
            <p:cNvSpPr txBox="true"/>
            <p:nvPr/>
          </p:nvSpPr>
          <p:spPr>
            <a:xfrm>
              <a:off x="0" y="-38100"/>
              <a:ext cx="238315" cy="693127"/>
            </a:xfrm>
            <a:prstGeom prst="rect">
              <a:avLst/>
            </a:prstGeom>
          </p:spPr>
          <p:txBody>
            <a:bodyPr anchor="ctr" rtlCol="false" tIns="50800" lIns="50800" bIns="50800" rIns="50800"/>
            <a:lstStyle/>
            <a:p>
              <a:pPr algn="ctr" marL="0" indent="0" lvl="0">
                <a:lnSpc>
                  <a:spcPts val="2800"/>
                </a:lnSpc>
              </a:pPr>
            </a:p>
          </p:txBody>
        </p:sp>
      </p:grpSp>
    </p:spTree>
  </p:cSld>
  <p:clrMapOvr>
    <a:masterClrMapping/>
  </p:clrMapOvr>
  <p:transition spd="fast">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DAHQPVH2VUE</dc:identifier>
  <dcterms:modified xsi:type="dcterms:W3CDTF">2011-08-01T06:04:30Z</dcterms:modified>
  <cp:revision>1</cp:revision>
  <dc:title>Augmented &amp; Virtual Tourism Trends v1</dc:title>
</cp:coreProperties>
</file>